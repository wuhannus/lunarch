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rIns="822960"/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LUNARCH</a:t>
            </a:r>
          </a:p>
          <a:p>
            <a:pPr algn="ctr">
              <a:defRPr sz="2400">
                <a:solidFill>
                  <a:srgbClr val="9EC5FF"/>
                </a:solidFill>
              </a:defRPr>
            </a:pPr>
            <a:r>
              <a:t>AI-Driven Chip Design Leveraging Open-Source Toolchains</a:t>
            </a:r>
          </a:p>
          <a:p>
            <a:pPr algn="ctr">
              <a:defRPr sz="2200" b="1">
                <a:solidFill>
                  <a:srgbClr val="FFFFFF"/>
                </a:solidFill>
              </a:defRPr>
            </a:pPr>
            <a:r>
              <a:t>Han Wu</a:t>
            </a:r>
          </a:p>
          <a:p>
            <a:pPr algn="ctr">
              <a:defRPr sz="1400">
                <a:solidFill>
                  <a:srgbClr val="C9D8EE"/>
                </a:solidFill>
              </a:defRPr>
            </a:pPr>
            <a:r>
              <a:t>RISC-V RV32I core  ·  sky130HD  ·  RTL-to-GDS  ·  verification, timing &amp; power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89320"/>
            <a:ext cx="105457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C9D8EE"/>
                </a:solidFill>
              </a:defRPr>
            </a:pPr>
            <a:r>
              <a:t>Disclaimer: this material reflects the author’s personal research interest only. It is not related to, endorsed by, or affiliated with my current or former employers.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F3A5F"/>
                </a:solidFill>
              </a:defRPr>
            </a:pPr>
            <a:r>
              <a:t>• Introduction — RISC-V RV32I core and the open-source RTL→GDS motivation</a:t>
            </a:r>
          </a:p>
          <a:p>
            <a:pPr>
              <a:spcAft>
                <a:spcPts val="1000"/>
              </a:spcAft>
              <a:defRPr sz="3000">
                <a:solidFill>
                  <a:srgbClr val="1F3A5F"/>
                </a:solidFill>
              </a:defRPr>
            </a:pPr>
            <a:r>
              <a:t>• Design under test and the AI-driven open-source flow</a:t>
            </a:r>
          </a:p>
          <a:p>
            <a:pPr>
              <a:spcAft>
                <a:spcPts val="1000"/>
              </a:spcAft>
              <a:defRPr sz="3000">
                <a:solidFill>
                  <a:srgbClr val="1F3A5F"/>
                </a:solidFill>
              </a:defRPr>
            </a:pPr>
            <a:r>
              <a:t>• Verification and sign-off — simulation, LEC, DRC, LVS</a:t>
            </a:r>
          </a:p>
          <a:p>
            <a:pPr>
              <a:spcAft>
                <a:spcPts val="1000"/>
              </a:spcAft>
              <a:defRPr sz="3000">
                <a:solidFill>
                  <a:srgbClr val="1F3A5F"/>
                </a:solidFill>
              </a:defRPr>
            </a:pPr>
            <a:r>
              <a:t>• Results — baseline timing / power and the Pareto study</a:t>
            </a:r>
          </a:p>
          <a:p>
            <a:pPr>
              <a:spcAft>
                <a:spcPts val="1000"/>
              </a:spcAft>
              <a:defRPr sz="3000">
                <a:solidFill>
                  <a:srgbClr val="1F3A5F"/>
                </a:solidFill>
              </a:defRPr>
            </a:pPr>
            <a:r>
              <a:t>• Conclusions and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Design Under Test — RISC-V RV32I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Top module: riscv — a simple single-cycle RV32I core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Origin: J. E. Stine, Oklahoma State University (Harris &amp; Harris textbook processor); bundled with OpenROAD Flow Scripts (Apache-2.0)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24 RTL modules; 18 elaborated under the riscv top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Sequential state: PC register (32 b) + register file 32×32 (1,024 FFs) + SEPC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Instruction/data memories are external (instr / readdata in, memwrite / aluout / writedata out)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Target platform: sky130HD (sky130_fd_sc_hd), high-density standard cells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Baseline: 5,520 cells, 73,594 µm² core area, 376.6 µm die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Block Diagram &amp; Microarchitecture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controller + datapath, colour-coded by path group</a:t>
            </a:r>
          </a:p>
        </p:txBody>
      </p:sp>
      <p:pic>
        <p:nvPicPr>
          <p:cNvPr id="3" name="Picture 2" descr="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943600" cy="4083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29400" y="13716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Single cycle: fetch → decode → execute → write-back in one clock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controller (maindec + aludec) drives the datapath control bus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datapath: regfile 32×32, ALU (add/sub/and/or/xor/slt), shifter (sll/srl/sra), magcompare32, adders, mux2/3/5, signext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sequential: PC register + SEPC (saved exception PC on ecall/ebreak)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Critical loop: regfile read → mux → ALU → mux → regfile write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Data Flow &amp; Path Groups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critical path sits in PG2 (regfile → ALU → regfile)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98448"/>
          <a:ext cx="11247118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788"/>
                <a:gridCol w="2388768"/>
                <a:gridCol w="2985961"/>
                <a:gridCol w="4976601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Start → End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Dominant logic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PC / Fetch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pcreg → 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adder(+4/+imm), pcmux, flopr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ALU write-back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regfile → regfile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rs1mux, memsrcmux, alu, srccmux, resmux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Shift write-back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regfile → regfile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shifter, srccmux, resmux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Memory (LSU)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readdata→rf / rf→writedata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halfbytemux1/2, resmux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Branch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regfile → 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magcompare32 → controller.pcsrc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Decode / Control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instr → ctrl bus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controller (maindec, aludec)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Immediate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instr → alu/pcreg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signext(mux5), pcextmux, adder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Output / Exception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regfile → aluout; pcreg → SEPC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srccmux, flopenr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20624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Fetch: pcreg → adder(+4) / adder(+imm) → pcmux(pcsrc) → pcreg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Decode &amp; read: instr → controller (maindec, aludec); regfile rd1→srca2, rd2→writedata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Immediate: instr → signext(mux5) → pcextmux → adders / ALU B-operand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Execute &amp; compare: alu / shifter → srccmux → aluout; magcompare32 → gt/lt/eq → pcsrc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Write-back: resmux(ALU/load) → storepcmux(link PC) → rf.wd3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AI-Driven Open-Source Flow &amp; Verification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100% open-source RTL→GDS, sign-off clean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Synthesis — Yosys (≥ 0.69) → sky130_fd_sc_hd liberty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Floorplan / place / CTS / route — OpenROAD + OpenROAD Flow Scripts (version-matched)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GDS stream-out (OpenROAD / KLayout); DRC &amp; LVS (KLayout); SPEF extraction for STA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Logical equivalence — Kepler Formal (gate-level) + Yosys equiv_* (RTL vs synth)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AI agents orchestrated: toolchain bring-up, version matching, debugging, report/dashboard generation, goal-directed optimization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114800"/>
          <a:ext cx="1106424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120640"/>
                <a:gridCol w="2651760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Check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Tool / method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RTL ≡ synthesised netlist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Yosys equiv_make / equiv_induct / equiv_status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Proven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Synth ≡ final routed netlist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Kepler Formal (gate-level LEC, LEC_CHECK=1)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Global output passed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DRC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KLayout sky130hd.lydrc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0 violations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LVS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KLayout sky130hd.lylvs (+ Magic/netgen)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Netlists match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Timing sign-off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OpenROAD STA (report_checks), SDC 7.0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WNS/TNS 0.00 ns, hold MET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Simulation / equivalence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Yosys formal + SAT (counter-example free)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Simulation Replay — gate-level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pre-layout RTL trace — animates in slide-show mode (press F5)</a:t>
            </a:r>
          </a:p>
        </p:txBody>
      </p:sp>
      <p:pic>
        <p:nvPicPr>
          <p:cNvPr id="3" name="Picture 2" descr="riscv32i_sim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280160"/>
            <a:ext cx="822960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400">
                <a:solidFill>
                  <a:srgbClr val="44546A"/>
                </a:solidFill>
              </a:rPr>
              <a:t>Debugger-style replay of the 125-cycle directed test: </a:t>
            </a:r>
            <a:r>
              <a:rPr b="1" sz="1400">
                <a:solidFill>
                  <a:srgbClr val="1F3A5F"/>
                </a:solidFill>
              </a:rPr>
              <a:t>program listing</a:t>
            </a:r>
            <a:r>
              <a:rPr b="0" sz="1400">
                <a:solidFill>
                  <a:srgbClr val="44546A"/>
                </a:solidFill>
              </a:rPr>
              <a:t> (left, current PC highlighted), </a:t>
            </a:r>
            <a:r>
              <a:rPr b="1" sz="1400">
                <a:solidFill>
                  <a:srgbClr val="1F3A5F"/>
                </a:solidFill>
              </a:rPr>
              <a:t>architectural state + memory-write log</a:t>
            </a:r>
            <a:r>
              <a:rPr b="0" sz="1400">
                <a:solidFill>
                  <a:srgbClr val="44546A"/>
                </a:solidFill>
              </a:rPr>
              <a:t> (right), and a </a:t>
            </a:r>
            <a:r>
              <a:rPr b="1" sz="1400">
                <a:solidFill>
                  <a:srgbClr val="1F3A5F"/>
                </a:solidFill>
              </a:rPr>
              <a:t>signal strip</a:t>
            </a:r>
            <a:r>
              <a:rPr b="0" sz="1400">
                <a:solidFill>
                  <a:srgbClr val="44546A"/>
                </a:solidFill>
              </a:rPr>
              <a:t> (pc / instr / memwrite / memread).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Physical-Design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1_synth — Yosys synthesis to sky130 std cells (1_synth.odb / 1_2_yosys.v)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2_floorplan — die/core sizing, tapcells, PDN (power grid)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3_place — global place → resizer → detailed place (sizing for timing/area)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4_cts — clock-tree synthesis, clock buffers, skew balancing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5_route — global route (FastRoute) → detailed route → fill cells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6_finish — final GDSII, SPEF, netlist, reports (DRC/LVS run separately)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Artifacts: 6_final.gds / .def / .v / .spef, 6_drc.lyrdb, 6_lvs.lvsdb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Baseline Results (7.0 ns, 142.9 MHz)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reference point for all optimization studies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10896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Setup WNS / TNS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0.00 / 0.00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Min reg→reg period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6.76 ns (fmax 147.9 MHz)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MET (worst +0.58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Core area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73,594 µm² (die 376.6 µm)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Cells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5,520 (1,024 edfxtp + 32 dfrtp)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Power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19.7 mW (seq 40% / comb 30% / clk 29%)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Signal wirelength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274.2 mm (met1/met2 dominated)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DRC / LVS / LEC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0 / match / proven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Final Layout — GDS photo + critical-path routing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timing-closed 7.0 ns, 376.6 µm die</a:t>
            </a:r>
          </a:p>
        </p:txBody>
      </p:sp>
      <p:pic>
        <p:nvPicPr>
          <p:cNvPr id="3" name="Picture 2" descr="6_final_g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371600"/>
            <a:ext cx="4937760" cy="4937760"/>
          </a:xfrm>
          <a:prstGeom prst="rect">
            <a:avLst/>
          </a:prstGeom>
        </p:spPr>
      </p:pic>
      <p:pic>
        <p:nvPicPr>
          <p:cNvPr id="4" name="Picture 3" descr="routing_map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1371600"/>
            <a:ext cx="4465929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F3A5F"/>
                </a:solidFill>
              </a:rPr>
              <a:t>GDS photo (left): </a:t>
            </a:r>
            <a:r>
              <a:rPr b="0" sz="1400">
                <a:solidFill>
                  <a:srgbClr val="44546A"/>
                </a:solidFill>
              </a:rPr>
              <a:t>final routed sky130 layout (poly / li / met1–met5).    </a:t>
            </a:r>
            <a:r>
              <a:rPr b="1" sz="1400">
                <a:solidFill>
                  <a:srgbClr val="1F3A5F"/>
                </a:solidFill>
              </a:rPr>
              <a:t>Routing map (right): </a:t>
            </a:r>
            <a:r>
              <a:rPr b="0" sz="1400">
                <a:solidFill>
                  <a:srgbClr val="44546A"/>
                </a:solidFill>
              </a:rPr>
              <a:t>critical-path route highlighted on the die — animates in slide-show mode.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Timing vs Power — Pareto (same 376.6 µm die)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power normalized to the 142.9 MHz baseline clock</a:t>
            </a:r>
          </a:p>
        </p:txBody>
      </p:sp>
      <p:pic>
        <p:nvPicPr>
          <p:cNvPr id="3" name="Picture 2" descr="pareto_p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328647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60167" y="1325880"/>
            <a:ext cx="3765768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</a:rPr>
              <a:t>ABC mapper: “delay-oriented” vs “area-oriented”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A86E8"/>
                </a:solidFill>
              </a:rPr>
              <a:t>delay-oriented (ABC_AREA=0): </a:t>
            </a:r>
            <a:r>
              <a:rPr b="0" sz="1350">
                <a:solidFill>
                  <a:srgbClr val="44546A"/>
                </a:solidFill>
              </a:rPr>
              <a:t>the mapper optimises the critical path — larger, faster cells, area spent to shorten logic depth. Fastest, but more capacitance → more dynamic power.  (blue circles: p5/p7/p10_delay)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E06666"/>
                </a:solidFill>
              </a:rPr>
              <a:t>area-oriented (ABC_AREA=1): </a:t>
            </a:r>
            <a:r>
              <a:rPr b="0" sz="1350">
                <a:solidFill>
                  <a:srgbClr val="44546A"/>
                </a:solidFill>
              </a:rPr>
              <a:t>the mapper minimises gate area / transistor count — smaller cells, shared logic. Lower capacitance → less switching power, at some speed cost.  (red squares: p7/p10/p20_area)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1F3A5F"/>
                </a:solidFill>
              </a:rPr>
              <a:t>Reading the plot: </a:t>
            </a:r>
            <a:r>
              <a:rPr b="0" sz="1350">
                <a:solidFill>
                  <a:srgbClr val="44546A"/>
                </a:solidFill>
              </a:rPr>
              <a:t>X = achieved fmax; Y = total power @142.9 MHz (fair comparison). Dashed line = Pareto front.</a:t>
            </a:r>
          </a:p>
          <a:p>
            <a:pPr>
              <a:spcAft>
                <a:spcPts val="0"/>
              </a:spcAft>
            </a:pPr>
            <a:r>
              <a:rPr b="1" sz="1350">
                <a:solidFill>
                  <a:srgbClr val="1F3A5F"/>
                </a:solidFill>
              </a:rPr>
              <a:t>Result: </a:t>
            </a:r>
            <a:r>
              <a:rPr b="0" sz="1350">
                <a:solidFill>
                  <a:srgbClr val="44546A"/>
                </a:solidFill>
              </a:rPr>
              <a:t>p7_area is lower power AND faster than the delay baseline at equal frequency → area-oriented mapping dominates.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Why p7_area beats p7_delay (same 7 ns clock)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cell-type analysis — area vs delay ABC mapping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5852160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Cell class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p7_delay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p7_area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Multi-input combinational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3,458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6,404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+2,946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Inverter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123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843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+720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Clock inverter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−5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Clock buffer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135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148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+13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Timing-repair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405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−275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Sequential (FF)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1,056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1,056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Antenna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Tap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1,876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1,876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11,652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12,904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+1,252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Total instances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19,050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23,702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+4,652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5166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F3A5F"/>
                </a:solidFill>
              </a:defRPr>
            </a:pPr>
            <a:r>
              <a:t>• Only the combinational mapping changed (the ABC_AREA knob).</a:t>
            </a:r>
          </a:p>
          <a:p>
            <a:pPr>
              <a:spcAft>
                <a:spcPts val="700"/>
              </a:spcAft>
              <a:defRPr sz="1400">
                <a:solidFill>
                  <a:srgbClr val="1F3A5F"/>
                </a:solidFill>
              </a:defRPr>
            </a:pPr>
            <a:r>
              <a:t>• ~1.85× more combinational gates (3,458→6,404), each smaller — +85% gates for only +3% comb area.</a:t>
            </a:r>
          </a:p>
          <a:p>
            <a:pPr>
              <a:spcAft>
                <a:spcPts val="700"/>
              </a:spcAft>
              <a:defRPr sz="1400">
                <a:solidFill>
                  <a:srgbClr val="1F3A5F"/>
                </a:solidFill>
              </a:defRPr>
            </a:pPr>
            <a:r>
              <a:t>• ~7× more inverters (123→843, +2.7k µm²): the area map leans on inversions / AOI-OAI structures.</a:t>
            </a:r>
          </a:p>
          <a:p>
            <a:pPr>
              <a:spcAft>
                <a:spcPts val="700"/>
              </a:spcAft>
              <a:defRPr sz="1400">
                <a:solidFill>
                  <a:srgbClr val="1F3A5F"/>
                </a:solidFill>
              </a:defRPr>
            </a:pPr>
            <a:r>
              <a:t>• ~40% fewer timing-repair buffers (680→405, −2.3k µm²): smaller cells needed less resizer fixing.</a:t>
            </a:r>
          </a:p>
          <a:p>
            <a:pPr>
              <a:spcAft>
                <a:spcPts val="700"/>
              </a:spcAft>
              <a:defRPr sz="1400">
                <a:solidFill>
                  <a:srgbClr val="1F3A5F"/>
                </a:solidFill>
              </a:defRPr>
            </a:pPr>
            <a:r>
              <a:t>• FFs (1,056), tap cells and clock buffers ~unchanged; fill grows (+1,252) as the extra small cells leave gaps.</a:t>
            </a:r>
          </a:p>
          <a:p>
            <a:pPr>
              <a:spcAft>
                <a:spcPts val="700"/>
              </a:spcAft>
              <a:defRPr sz="1400">
                <a:solidFill>
                  <a:srgbClr val="1F3A5F"/>
                </a:solidFill>
              </a:defRPr>
            </a:pPr>
            <a:r>
              <a:t>• Net: a finer-grained, smaller-gate netlist the resizer + CTS could tune better → fmax 147.9→155.4 MHz AND power 19.7→18.8 mW at the same 7 ns clock.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Where the extra cells go — two critical loops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p7_area vs p7_delay: extra nand2 / nand3 / inv by endpoint loop</a:t>
            </a:r>
          </a:p>
        </p:txBody>
      </p:sp>
      <p:pic>
        <p:nvPicPr>
          <p:cNvPr id="3" name="Picture 2" descr="p7_area_lo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6400800" cy="3661257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086600" y="1920240"/>
          <a:ext cx="4754877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8378"/>
                <a:gridCol w="834189"/>
                <a:gridCol w="750770"/>
                <a:gridCol w="750770"/>
                <a:gridCol w="750770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Loop (endpoint FF)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nand2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nand3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write-back (rf/D)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p7_delay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p7_area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1,527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566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423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PC / branch (pcreg/D)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p7_delay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p7_area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1,341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538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395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Δ (area − delay)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+2,542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+1,034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+745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86600" y="466344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F3A5F"/>
                </a:solidFill>
              </a:defRPr>
            </a:pPr>
            <a:r>
              <a:t>• Extra cells split ~53% / ~47% between the register-file write-back loop and the PC/branch loop — both sequential loops were re-expressed.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Why the critical loops prefer NAND2 / NAND3 / INVERTER cells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F3A5F"/>
                </a:solidFill>
              </a:defRPr>
            </a:pPr>
            <a:r>
              <a:t>• Logical effort: inverter = 1.0, nand2 = 4/3, nor2 = 5/3 — the LOWEST of any gate; compound AOI/OAI (2–3) and 4:1 muxes are much higher.</a:t>
            </a:r>
          </a:p>
          <a:p>
            <a:pPr>
              <a:spcAft>
                <a:spcPts val="1000"/>
              </a:spcAft>
              <a:defRPr sz="1700">
                <a:solidFill>
                  <a:srgbClr val="1F3A5F"/>
                </a:solidFill>
              </a:defRPr>
            </a:pPr>
            <a:r>
              <a:t>• A 32-bit ALU / comparator / mux network re-decomposes into shallower stages of low-effort gates, so the whole path has less stage delay.</a:t>
            </a:r>
          </a:p>
          <a:p>
            <a:pPr>
              <a:spcAft>
                <a:spcPts val="1000"/>
              </a:spcAft>
              <a:defRPr sz="1700">
                <a:solidFill>
                  <a:srgbClr val="1F3A5F"/>
                </a:solidFill>
              </a:defRPr>
            </a:pPr>
            <a:r>
              <a:t>• Shallow series stacks: nand/nor stack only 2–3 devices in series, vs deep AOI/OAI stacks — less intrinsic delay per logical level.</a:t>
            </a:r>
          </a:p>
          <a:p>
            <a:pPr>
              <a:spcAft>
                <a:spcPts val="1000"/>
              </a:spcAft>
              <a:defRPr sz="1700">
                <a:solidFill>
                  <a:srgbClr val="1F3A5F"/>
                </a:solidFill>
              </a:defRPr>
            </a:pPr>
            <a:r>
              <a:t>• Drive-strength granularity: nand2/nand3/inv ship in X1…X8, so the resizer picks the exact drive to match each stage's fanout.</a:t>
            </a:r>
          </a:p>
          <a:p>
            <a:pPr>
              <a:spcAft>
                <a:spcPts val="1000"/>
              </a:spcAft>
              <a:defRPr sz="1700">
                <a:solidFill>
                  <a:srgbClr val="1F3A5F"/>
                </a:solidFill>
              </a:defRPr>
            </a:pPr>
            <a:r>
              <a:t>• The area map (map -B 0.9) emits this fine, uniform gate mix; resizer + CTS then tune it on the fixed 7 ns clock, whereas the delay map pre-sized with wide cells and left less room.</a:t>
            </a:r>
          </a:p>
          <a:p>
            <a:pPr>
              <a:spcAft>
                <a:spcPts val="1000"/>
              </a:spcAft>
              <a:defRPr sz="1700">
                <a:solidFill>
                  <a:srgbClr val="1F3A5F"/>
                </a:solidFill>
              </a:defRPr>
            </a:pPr>
            <a:r>
              <a:t>• Net effect at the same clock: fmax 147.9 → 155.4 MHz and power 19.7 → 18.8 mW — the extra nand/inv gates ARE the speedup, not a cost.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Hardware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Host: x86-64 machine running WSL2 (Ubuntu 24.04)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CPU: multi-core (≥ 4 cores; place/route are largely single-thread heavy)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RAM: ≥ 16 GB (recommend 32 GB); peak route/STA ~ 1–2 GB for this design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Disk: ≥ 50 GB free (PDK + tools + builds; ORFS submodules &amp; sources are large)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Optional: dedicated NVMe for the WSL VHD (this project used an external NVMe)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No special accelerator required — a standard workstation/laptop suffices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Software Requirements (open-source)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100% open-source; no commercial EDA licenses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046720"/>
              </a:tblGrid>
              <a:tr h="310896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Tools / version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WSL2 Ubuntu 24.04 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Synthesis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Yosys ≥ 0.69 (built from source)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P&amp;R + 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OpenROAD (built from source, matched to ORFS)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Flow scripts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OpenROAD Flow Scripts (ORFS, master)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Layout / extract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Magic 8.3 (build), netgen 1.5 (apt)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DRC / LVS / view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KLayout 0.28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Formal LEC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Kepler Formal (built from source)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PDK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sky130A (open_pdks, sky130_fd_sc_hd)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AI / scripting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opencode AI agent, Python 3 + openpyxl / python-pptx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1F3A5F"/>
                </a:solidFill>
              </a:defRPr>
            </a:pPr>
            <a:r>
              <a:t>• A complete open-source RTL→GDS flow for an RV32I core was built and sign-off clean (DRC 0, LVS match, LEC proven)</a:t>
            </a:r>
          </a:p>
          <a:p>
            <a:pPr>
              <a:spcAft>
                <a:spcPts val="1000"/>
              </a:spcAft>
              <a:defRPr sz="2100">
                <a:solidFill>
                  <a:srgbClr val="1F3A5F"/>
                </a:solidFill>
              </a:defRPr>
            </a:pPr>
            <a:r>
              <a:t>• AI orchestration covered toolchain bring-up, version matching, debugging, dashboards and goal-directed studies</a:t>
            </a:r>
          </a:p>
          <a:p>
            <a:pPr>
              <a:spcAft>
                <a:spcPts val="1000"/>
              </a:spcAft>
              <a:defRPr sz="2100">
                <a:solidFill>
                  <a:srgbClr val="1F3A5F"/>
                </a:solidFill>
              </a:defRPr>
            </a:pPr>
            <a:r>
              <a:t>• Baseline closes timing at 7.0 ns (147.9 MHz, 19.7 mW)</a:t>
            </a:r>
          </a:p>
          <a:p>
            <a:pPr>
              <a:spcAft>
                <a:spcPts val="1000"/>
              </a:spcAft>
              <a:defRPr sz="2100">
                <a:solidFill>
                  <a:srgbClr val="1F3A5F"/>
                </a:solidFill>
              </a:defRPr>
            </a:pPr>
            <a:r>
              <a:t>• 200 MHz is unreachable without RTL pipelining — best is 153.4 MHz</a:t>
            </a:r>
          </a:p>
          <a:p>
            <a:pPr>
              <a:spcAft>
                <a:spcPts val="1000"/>
              </a:spcAft>
              <a:defRPr sz="2100">
                <a:solidFill>
                  <a:srgbClr val="1F3A5F"/>
                </a:solidFill>
              </a:defRPr>
            </a:pPr>
            <a:r>
              <a:t>• Area-oriented synthesis cuts per-cycle energy ~5% (18.7 mW @142.9 MHz equiv.) and raises fmax to 155 MHz</a:t>
            </a:r>
          </a:p>
          <a:p>
            <a:pPr>
              <a:spcAft>
                <a:spcPts val="1000"/>
              </a:spcAft>
              <a:defRPr sz="2100">
                <a:solidFill>
                  <a:srgbClr val="1F3A5F"/>
                </a:solidFill>
              </a:defRPr>
            </a:pPr>
            <a:r>
              <a:t>• The design is cell-delay dominated; wire delay &lt; 0.02 ns per path — not wire-limited</a:t>
            </a:r>
          </a:p>
          <a:p>
            <a:pPr>
              <a:spcAft>
                <a:spcPts val="1000"/>
              </a:spcAft>
              <a:defRPr sz="2100">
                <a:solidFill>
                  <a:srgbClr val="1F3A5F"/>
                </a:solidFill>
              </a:defRPr>
            </a:pPr>
            <a:r>
              <a:t>• Next steps: pipelined microarchitecture to reach 200 MHz+; SRAM macro for the memories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