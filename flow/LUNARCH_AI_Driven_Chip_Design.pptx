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lIns="822960" rIns="822960"/>
          <a:lstStyle/>
          <a:p>
            <a:pPr algn="ctr">
              <a:defRPr sz="6209" b="1">
                <a:solidFill>
                  <a:srgbClr val="FFFFFF"/>
                </a:solidFill>
              </a:defRPr>
            </a:pPr>
            <a:r>
              <a:rPr/>
              <a:t>LUNARCH</a:t>
            </a:r>
          </a:p>
          <a:p>
            <a:pPr algn="ctr">
              <a:defRPr sz="2760">
                <a:solidFill>
                  <a:srgbClr val="9EC5FF"/>
                </a:solidFill>
              </a:defRPr>
            </a:pPr>
            <a:r>
              <a:rPr/>
              <a:t>AI-Driven Chip Design Leveraging Open-Source Toolchains</a:t>
            </a:r>
          </a:p>
          <a:p>
            <a:pPr algn="ctr">
              <a:defRPr sz="2529" b="1">
                <a:solidFill>
                  <a:srgbClr val="FFFFFF"/>
                </a:solidFill>
              </a:defRPr>
            </a:pPr>
            <a:r>
              <a:rPr/>
              <a:t>Han Wu</a:t>
            </a:r>
          </a:p>
          <a:p>
            <a:pPr algn="ctr">
              <a:defRPr sz="1609">
                <a:solidFill>
                  <a:srgbClr val="C9D8EE"/>
                </a:solidFill>
              </a:defRPr>
            </a:pPr>
            <a:r>
              <a:rPr/>
              <a:t>RISC-V RV32I core  ·  sky130HD  ·  RTL-to-GDS  ·  verification, timing &amp; power studies</a:t>
            </a:r>
          </a:p>
        </p:txBody>
      </p:sp>
      <p:sp>
        <p:nvSpPr>
          <p:cNvPr id="3" name="TextBox 2"/>
          <p:cNvSpPr txBox="1"/>
          <p:nvPr/>
        </p:nvSpPr>
        <p:spPr>
          <a:xfrm>
            <a:off x="822960" y="5989320"/>
            <a:ext cx="10545775" cy="685800"/>
          </a:xfrm>
          <a:prstGeom prst="rect">
            <a:avLst/>
          </a:prstGeom>
          <a:noFill/>
        </p:spPr>
        <p:txBody>
          <a:bodyPr wrap="square">
            <a:spAutoFit/>
          </a:bodyPr>
          <a:lstStyle/>
          <a:p>
            <a:pPr algn="ctr">
              <a:defRPr sz="1264">
                <a:solidFill>
                  <a:srgbClr val="C9D8EE"/>
                </a:solidFill>
              </a:defRPr>
            </a:pPr>
            <a:r>
              <a:rPr/>
              <a:t>Disclaimer: this material reflects the author’s personal research interest only. It is not related to, endorsed by, or affiliated with my current or former employers.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714500"/>
          </a:xfrm>
          <a:prstGeom prst="rect">
            <a:avLst/>
          </a:prstGeom>
          <a:solidFill>
            <a:srgbClr val="F9F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45720"/>
            <a:ext cx="11430000" cy="457200"/>
          </a:xfrm>
          <a:prstGeom prst="rect">
            <a:avLst/>
          </a:prstGeom>
          <a:noFill/>
        </p:spPr>
        <p:txBody>
          <a:bodyPr wrap="none">
            <a:spAutoFit/>
          </a:bodyPr>
          <a:lstStyle/>
          <a:p>
            <a:pPr>
              <a:defRPr sz="2400" b="1">
                <a:solidFill>
                  <a:srgbClr val="1F3A5F"/>
                </a:solidFill>
              </a:defRPr>
            </a:pPr>
            <a:r>
              <a:t>Disclaimer</a:t>
            </a:r>
          </a:p>
        </p:txBody>
      </p:sp>
      <p:sp>
        <p:nvSpPr>
          <p:cNvPr id="4" name="TextBox 3"/>
          <p:cNvSpPr txBox="1"/>
          <p:nvPr/>
        </p:nvSpPr>
        <p:spPr>
          <a:xfrm>
            <a:off x="329184" y="475488"/>
            <a:ext cx="11430000" cy="1051560"/>
          </a:xfrm>
          <a:prstGeom prst="rect">
            <a:avLst/>
          </a:prstGeom>
          <a:noFill/>
        </p:spPr>
        <p:txBody>
          <a:bodyPr wrap="square">
            <a:spAutoFit/>
          </a:bodyPr>
          <a:lstStyle/>
          <a:p>
            <a:pPr>
              <a:defRPr sz="1500">
                <a:solidFill>
                  <a:srgbClr val="44546A"/>
                </a:solidFill>
              </a:defRPr>
            </a:pPr>
            <a:r>
              <a:t>The views expressed in this presentation are solely those of the presenter and do not reflect the official policy or position of any company or institution. This presentation draws from 35 years of personal reflection, is for informational purposes only, and does not constitute professional advice.</a:t>
            </a:r>
          </a:p>
        </p:txBody>
      </p:sp>
      <p:sp>
        <p:nvSpPr>
          <p:cNvPr id="5" name="Rectangle 4"/>
          <p:cNvSpPr/>
          <p:nvPr/>
        </p:nvSpPr>
        <p:spPr>
          <a:xfrm>
            <a:off x="347472" y="1700784"/>
            <a:ext cx="11494008" cy="25400"/>
          </a:xfrm>
          <a:prstGeom prst="rect">
            <a:avLst/>
          </a:prstGeom>
          <a:solidFill>
            <a:srgbClr val="E5E7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1828800"/>
            <a:ext cx="8138160" cy="4846320"/>
          </a:xfrm>
          <a:prstGeom prst="rect">
            <a:avLst/>
          </a:prstGeom>
          <a:noFill/>
        </p:spPr>
        <p:txBody>
          <a:bodyPr wrap="square">
            <a:spAutoFit/>
          </a:bodyPr>
          <a:lstStyle/>
          <a:p>
            <a:pPr>
              <a:spcAft>
                <a:spcPts val="1200"/>
              </a:spcAft>
            </a:pPr>
            <a:r>
              <a:rPr b="1" sz="2600">
                <a:solidFill>
                  <a:srgbClr val="1F3A5F"/>
                </a:solidFill>
              </a:rPr>
              <a:t>Dr. Han Wu</a:t>
            </a:r>
          </a:p>
          <a:p>
            <a:pPr>
              <a:spcAft>
                <a:spcPts val="600"/>
              </a:spcAft>
            </a:pPr>
            <a:r>
              <a:rPr b="0" sz="1600">
                <a:solidFill>
                  <a:srgbClr val="1F3A5F"/>
                </a:solidFill>
              </a:rPr>
              <a:t>B.Eng. (2013) &amp; M.E. (2016) — Chongqing University, China</a:t>
            </a:r>
          </a:p>
          <a:p>
            <a:pPr>
              <a:spcAft>
                <a:spcPts val="600"/>
              </a:spcAft>
            </a:pPr>
            <a:r>
              <a:rPr b="0" sz="1600">
                <a:solidFill>
                  <a:srgbClr val="1F3A5F"/>
                </a:solidFill>
              </a:rPr>
              <a:t>Ph.D. (2021) — National University of Singapore</a:t>
            </a:r>
          </a:p>
          <a:p>
            <a:pPr>
              <a:spcAft>
                <a:spcPts val="600"/>
              </a:spcAft>
            </a:pPr>
            <a:r>
              <a:rPr b="0" sz="1600">
                <a:solidFill>
                  <a:srgbClr val="1F3A5F"/>
                </a:solidFill>
              </a:rPr>
              <a:t>Research Fellow, NUS (2022)</a:t>
            </a:r>
          </a:p>
          <a:p>
            <a:pPr>
              <a:spcAft>
                <a:spcPts val="600"/>
              </a:spcAft>
            </a:pPr>
            <a:r>
              <a:rPr b="0" sz="1600">
                <a:solidFill>
                  <a:srgbClr val="1F3A5F"/>
                </a:solidFill>
              </a:rPr>
              <a:t>STCO Team Leader, HUAWEI  (2022 – 2026)</a:t>
            </a:r>
          </a:p>
          <a:p>
            <a:pPr>
              <a:spcAft>
                <a:spcPts val="1200"/>
              </a:spcAft>
            </a:pPr>
            <a:r>
              <a:rPr b="0" sz="1600">
                <a:solidFill>
                  <a:srgbClr val="1F3A5F"/>
                </a:solidFill>
              </a:rPr>
              <a:t>ASIC Engineer, NVIDIA (2026 – today)</a:t>
            </a:r>
          </a:p>
          <a:p>
            <a:pPr>
              <a:spcAft>
                <a:spcPts val="600"/>
              </a:spcAft>
            </a:pPr>
            <a:r>
              <a:rPr b="1" sz="1600">
                <a:solidFill>
                  <a:srgbClr val="1F3A5F"/>
                </a:solidFill>
              </a:rPr>
              <a:t>Industry Expertise:</a:t>
            </a:r>
            <a:r>
              <a:rPr b="0" sz="1600">
                <a:solidFill>
                  <a:srgbClr val="44546A"/>
                </a:solidFill>
              </a:rPr>
              <a:t> IC design for high-performance &amp; energy-efficient AI chips</a:t>
            </a:r>
          </a:p>
          <a:p>
            <a:pPr>
              <a:spcAft>
                <a:spcPts val="0"/>
              </a:spcAft>
            </a:pPr>
            <a:r>
              <a:rPr b="1" sz="1600">
                <a:solidFill>
                  <a:srgbClr val="1F3A5F"/>
                </a:solidFill>
              </a:rPr>
              <a:t>Research interests:</a:t>
            </a:r>
            <a:r>
              <a:rPr b="0" sz="1600">
                <a:solidFill>
                  <a:srgbClr val="44546A"/>
                </a:solidFill>
              </a:rPr>
              <a:t> energy-efficient high-speed links, ultra-low-power SoC design, MEMS sensor interface circuits, system-technology co-optimization for advanced computing &amp; AI hardware</a:t>
            </a:r>
          </a:p>
        </p:txBody>
      </p:sp>
      <p:pic>
        <p:nvPicPr>
          <p:cNvPr id="7" name="Picture 6" descr="hanwu_photo.png"/>
          <p:cNvPicPr>
            <a:picLocks noChangeAspect="1"/>
          </p:cNvPicPr>
          <p:nvPr/>
        </p:nvPicPr>
        <p:blipFill>
          <a:blip r:embed="rId2"/>
          <a:stretch>
            <a:fillRect/>
          </a:stretch>
        </p:blipFill>
        <p:spPr>
          <a:xfrm>
            <a:off x="8732520" y="2148840"/>
            <a:ext cx="324612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Agenda</a:t>
            </a:r>
          </a:p>
        </p:txBody>
      </p:sp>
      <p:sp>
        <p:nvSpPr>
          <p:cNvPr id="3" name="TextBox 2"/>
          <p:cNvSpPr txBox="1"/>
          <p:nvPr/>
        </p:nvSpPr>
        <p:spPr>
          <a:xfrm>
            <a:off x="548640" y="1371600"/>
            <a:ext cx="11064240" cy="5212080"/>
          </a:xfrm>
          <a:prstGeom prst="rect">
            <a:avLst/>
          </a:prstGeom>
          <a:noFill/>
        </p:spPr>
        <p:txBody>
          <a:bodyPr wrap="square">
            <a:spAutoFit/>
          </a:bodyPr>
          <a:lstStyle/>
          <a:p>
            <a:pPr>
              <a:spcAft>
                <a:spcPts val="1000"/>
              </a:spcAft>
              <a:defRPr sz="3450">
                <a:solidFill>
                  <a:srgbClr val="1F3A5F"/>
                </a:solidFill>
              </a:defRPr>
            </a:pPr>
            <a:r>
              <a:rPr/>
              <a:t>• Introduction — RISC-V RV32I core and the open-source RTL→GDS motivation</a:t>
            </a:r>
          </a:p>
          <a:p>
            <a:pPr>
              <a:spcAft>
                <a:spcPts val="1000"/>
              </a:spcAft>
              <a:defRPr sz="3450">
                <a:solidFill>
                  <a:srgbClr val="1F3A5F"/>
                </a:solidFill>
              </a:defRPr>
            </a:pPr>
            <a:r>
              <a:rPr/>
              <a:t>• Design under test and the AI-driven open-source flow</a:t>
            </a:r>
          </a:p>
          <a:p>
            <a:pPr>
              <a:spcAft>
                <a:spcPts val="1000"/>
              </a:spcAft>
              <a:defRPr sz="3450">
                <a:solidFill>
                  <a:srgbClr val="1F3A5F"/>
                </a:solidFill>
              </a:defRPr>
            </a:pPr>
            <a:r>
              <a:rPr/>
              <a:t>• Verification and sign-off — simulation, LEC, DRC, LVS</a:t>
            </a:r>
          </a:p>
          <a:p>
            <a:pPr>
              <a:spcAft>
                <a:spcPts val="1000"/>
              </a:spcAft>
              <a:defRPr sz="3450">
                <a:solidFill>
                  <a:srgbClr val="1F3A5F"/>
                </a:solidFill>
              </a:defRPr>
            </a:pPr>
            <a:r>
              <a:rPr/>
              <a:t>• Results — baseline timing / power and the Pareto study</a:t>
            </a:r>
          </a:p>
          <a:p>
            <a:pPr>
              <a:spcAft>
                <a:spcPts val="1000"/>
              </a:spcAft>
              <a:defRPr sz="3450">
                <a:solidFill>
                  <a:srgbClr val="1F3A5F"/>
                </a:solidFill>
              </a:defRPr>
            </a:pPr>
            <a:r>
              <a:rPr/>
              <a:t>• Conclusions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Design Under Test — RISC-V RV32I Core</a:t>
            </a:r>
          </a:p>
        </p:txBody>
      </p:sp>
      <p:sp>
        <p:nvSpPr>
          <p:cNvPr id="3" name="TextBox 2"/>
          <p:cNvSpPr txBox="1"/>
          <p:nvPr/>
        </p:nvSpPr>
        <p:spPr>
          <a:xfrm>
            <a:off x="548640" y="1371600"/>
            <a:ext cx="11064240" cy="5212080"/>
          </a:xfrm>
          <a:prstGeom prst="rect">
            <a:avLst/>
          </a:prstGeom>
          <a:noFill/>
        </p:spPr>
        <p:txBody>
          <a:bodyPr wrap="square">
            <a:spAutoFit/>
          </a:bodyPr>
          <a:lstStyle/>
          <a:p>
            <a:pPr>
              <a:spcAft>
                <a:spcPts val="1000"/>
              </a:spcAft>
              <a:defRPr sz="2760">
                <a:solidFill>
                  <a:srgbClr val="1F3A5F"/>
                </a:solidFill>
              </a:defRPr>
            </a:pPr>
            <a:r>
              <a:rPr/>
              <a:t>• Top module: riscv — a simple single-cycle RV32I core</a:t>
            </a:r>
          </a:p>
          <a:p>
            <a:pPr>
              <a:spcAft>
                <a:spcPts val="1000"/>
              </a:spcAft>
              <a:defRPr sz="2760">
                <a:solidFill>
                  <a:srgbClr val="1F3A5F"/>
                </a:solidFill>
              </a:defRPr>
            </a:pPr>
            <a:r>
              <a:rPr/>
              <a:t>• Origin: J. E. Stine, Oklahoma State University (Harris &amp; Harris textbook processor); bundled with OpenROAD Flow Scripts (Apache-2.0)</a:t>
            </a:r>
          </a:p>
          <a:p>
            <a:pPr>
              <a:spcAft>
                <a:spcPts val="1000"/>
              </a:spcAft>
              <a:defRPr sz="2760">
                <a:solidFill>
                  <a:srgbClr val="1F3A5F"/>
                </a:solidFill>
              </a:defRPr>
            </a:pPr>
            <a:r>
              <a:rPr/>
              <a:t>• 24 RTL modules; 18 elaborated under the riscv top</a:t>
            </a:r>
          </a:p>
          <a:p>
            <a:pPr>
              <a:spcAft>
                <a:spcPts val="1000"/>
              </a:spcAft>
              <a:defRPr sz="2760">
                <a:solidFill>
                  <a:srgbClr val="1F3A5F"/>
                </a:solidFill>
              </a:defRPr>
            </a:pPr>
            <a:r>
              <a:rPr/>
              <a:t>• Sequential state: PC register (32 b) + register file 32×32 (1,024 FFs) + SEPC</a:t>
            </a:r>
          </a:p>
          <a:p>
            <a:pPr>
              <a:spcAft>
                <a:spcPts val="1000"/>
              </a:spcAft>
              <a:defRPr sz="2760">
                <a:solidFill>
                  <a:srgbClr val="1F3A5F"/>
                </a:solidFill>
              </a:defRPr>
            </a:pPr>
            <a:r>
              <a:rPr/>
              <a:t>• Instruction/data memories are external (instr / readdata in, memwrite / aluout / writedata out)</a:t>
            </a:r>
          </a:p>
          <a:p>
            <a:pPr>
              <a:spcAft>
                <a:spcPts val="1000"/>
              </a:spcAft>
              <a:defRPr sz="2760">
                <a:solidFill>
                  <a:srgbClr val="1F3A5F"/>
                </a:solidFill>
              </a:defRPr>
            </a:pPr>
            <a:r>
              <a:rPr/>
              <a:t>• Target platform: sky130HD (sky130_fd_sc_hd), high-density standard cells</a:t>
            </a:r>
          </a:p>
          <a:p>
            <a:pPr>
              <a:spcAft>
                <a:spcPts val="1000"/>
              </a:spcAft>
              <a:defRPr sz="2760">
                <a:solidFill>
                  <a:srgbClr val="1F3A5F"/>
                </a:solidFill>
              </a:defRPr>
            </a:pPr>
            <a:r>
              <a:rPr/>
              <a:t>• Baseline: 5,520 cells, 73,594 µm² core area, 376.6 µm die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Block Diagram &amp; Microarchitecture</a:t>
            </a:r>
          </a:p>
          <a:p>
            <a:pPr>
              <a:defRPr sz="1725">
                <a:solidFill>
                  <a:srgbClr val="C9D8EE"/>
                </a:solidFill>
              </a:defRPr>
            </a:pPr>
            <a:r>
              <a:rPr/>
              <a:t>controller + datapath, colour-coded by path group</a:t>
            </a:r>
          </a:p>
        </p:txBody>
      </p:sp>
      <p:pic>
        <p:nvPicPr>
          <p:cNvPr id="3" name="Picture 2" descr="design.png"/>
          <p:cNvPicPr>
            <a:picLocks noChangeAspect="1"/>
          </p:cNvPicPr>
          <p:nvPr/>
        </p:nvPicPr>
        <p:blipFill>
          <a:blip r:embed="rId2"/>
          <a:stretch>
            <a:fillRect/>
          </a:stretch>
        </p:blipFill>
        <p:spPr>
          <a:xfrm>
            <a:off x="411480" y="1325880"/>
            <a:ext cx="5943600" cy="4083560"/>
          </a:xfrm>
          <a:prstGeom prst="rect">
            <a:avLst/>
          </a:prstGeom>
        </p:spPr>
      </p:pic>
      <p:sp>
        <p:nvSpPr>
          <p:cNvPr id="4" name="TextBox 3"/>
          <p:cNvSpPr txBox="1"/>
          <p:nvPr/>
        </p:nvSpPr>
        <p:spPr>
          <a:xfrm>
            <a:off x="6629400" y="1371600"/>
            <a:ext cx="5120640" cy="4937760"/>
          </a:xfrm>
          <a:prstGeom prst="rect">
            <a:avLst/>
          </a:prstGeom>
          <a:noFill/>
        </p:spPr>
        <p:txBody>
          <a:bodyPr wrap="square">
            <a:spAutoFit/>
          </a:bodyPr>
          <a:lstStyle/>
          <a:p>
            <a:pPr>
              <a:spcAft>
                <a:spcPts val="700"/>
              </a:spcAft>
              <a:defRPr sz="1954">
                <a:solidFill>
                  <a:srgbClr val="1F3A5F"/>
                </a:solidFill>
              </a:defRPr>
            </a:pPr>
            <a:r>
              <a:rPr/>
              <a:t>• Single cycle: fetch → decode → execute → write-back in one clock</a:t>
            </a:r>
          </a:p>
          <a:p>
            <a:pPr>
              <a:spcAft>
                <a:spcPts val="700"/>
              </a:spcAft>
              <a:defRPr sz="1954">
                <a:solidFill>
                  <a:srgbClr val="1F3A5F"/>
                </a:solidFill>
              </a:defRPr>
            </a:pPr>
            <a:r>
              <a:rPr/>
              <a:t>• controller (maindec + aludec) drives the datapath control bus</a:t>
            </a:r>
          </a:p>
          <a:p>
            <a:pPr>
              <a:spcAft>
                <a:spcPts val="700"/>
              </a:spcAft>
              <a:defRPr sz="1954">
                <a:solidFill>
                  <a:srgbClr val="1F3A5F"/>
                </a:solidFill>
              </a:defRPr>
            </a:pPr>
            <a:r>
              <a:rPr/>
              <a:t>• datapath: regfile 32×32, ALU (add/sub/and/or/xor/slt), shifter (sll/srl/sra), magcompare32, adders, mux2/3/5, signext</a:t>
            </a:r>
          </a:p>
          <a:p>
            <a:pPr>
              <a:spcAft>
                <a:spcPts val="700"/>
              </a:spcAft>
              <a:defRPr sz="1954">
                <a:solidFill>
                  <a:srgbClr val="1F3A5F"/>
                </a:solidFill>
              </a:defRPr>
            </a:pPr>
            <a:r>
              <a:rPr/>
              <a:t>• sequential: PC register + SEPC (saved exception PC on ecall/ebreak)</a:t>
            </a:r>
          </a:p>
          <a:p>
            <a:pPr>
              <a:spcAft>
                <a:spcPts val="700"/>
              </a:spcAft>
              <a:defRPr sz="1954">
                <a:solidFill>
                  <a:srgbClr val="1F3A5F"/>
                </a:solidFill>
              </a:defRPr>
            </a:pPr>
            <a:r>
              <a:rPr/>
              <a:t>• Critical loop: regfile read → mux → ALU → mux → regfile write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Data Flow &amp; Path Groups</a:t>
            </a:r>
          </a:p>
          <a:p>
            <a:pPr>
              <a:defRPr sz="1725">
                <a:solidFill>
                  <a:srgbClr val="C9D8EE"/>
                </a:solidFill>
              </a:defRPr>
            </a:pPr>
            <a:r>
              <a:rPr/>
              <a:t>critical path sits in PG2 (regfile → ALU → regfile)</a:t>
            </a:r>
          </a:p>
        </p:txBody>
      </p:sp>
      <p:graphicFrame>
        <p:nvGraphicFramePr>
          <p:cNvPr id="3" name="Table 2"/>
          <p:cNvGraphicFramePr>
            <a:graphicFrameLocks noGrp="1"/>
          </p:cNvGraphicFramePr>
          <p:nvPr/>
        </p:nvGraphicFramePr>
        <p:xfrm>
          <a:off x="457200" y="1298448"/>
          <a:ext cx="11247118" cy="2798064"/>
        </p:xfrm>
        <a:graphic>
          <a:graphicData uri="http://schemas.openxmlformats.org/drawingml/2006/table">
            <a:tbl>
              <a:tblPr firstRow="1" bandRow="1">
                <a:tableStyleId>{5C22544A-7EE6-4342-B048-85BDC9FD1C3A}</a:tableStyleId>
              </a:tblPr>
              <a:tblGrid>
                <a:gridCol w="895788"/>
                <a:gridCol w="2388768"/>
                <a:gridCol w="2985961"/>
                <a:gridCol w="4976601"/>
              </a:tblGrid>
              <a:tr h="310896">
                <a:tc>
                  <a:txBody>
                    <a:bodyPr/>
                    <a:lstStyle/>
                    <a:p>
                      <a:pPr>
                        <a:defRPr sz="1495" b="1">
                          <a:solidFill>
                            <a:srgbClr val="FFFFFF"/>
                          </a:solidFill>
                        </a:defRPr>
                      </a:pPr>
                      <a:r>
                        <a:rPr/>
                        <a:t>ID</a:t>
                      </a:r>
                    </a:p>
                  </a:txBody>
                  <a:tcPr>
                    <a:solidFill>
                      <a:srgbClr val="1F3A5F"/>
                    </a:solidFill>
                  </a:tcPr>
                </a:tc>
                <a:tc>
                  <a:txBody>
                    <a:bodyPr/>
                    <a:lstStyle/>
                    <a:p>
                      <a:pPr>
                        <a:defRPr sz="1495" b="1">
                          <a:solidFill>
                            <a:srgbClr val="FFFFFF"/>
                          </a:solidFill>
                        </a:defRPr>
                      </a:pPr>
                      <a:r>
                        <a:rPr/>
                        <a:t>Group</a:t>
                      </a:r>
                    </a:p>
                  </a:txBody>
                  <a:tcPr>
                    <a:solidFill>
                      <a:srgbClr val="1F3A5F"/>
                    </a:solidFill>
                  </a:tcPr>
                </a:tc>
                <a:tc>
                  <a:txBody>
                    <a:bodyPr/>
                    <a:lstStyle/>
                    <a:p>
                      <a:pPr>
                        <a:defRPr sz="1495" b="1">
                          <a:solidFill>
                            <a:srgbClr val="FFFFFF"/>
                          </a:solidFill>
                        </a:defRPr>
                      </a:pPr>
                      <a:r>
                        <a:rPr/>
                        <a:t>Start → End</a:t>
                      </a:r>
                    </a:p>
                  </a:txBody>
                  <a:tcPr>
                    <a:solidFill>
                      <a:srgbClr val="1F3A5F"/>
                    </a:solidFill>
                  </a:tcPr>
                </a:tc>
                <a:tc>
                  <a:txBody>
                    <a:bodyPr/>
                    <a:lstStyle/>
                    <a:p>
                      <a:pPr>
                        <a:defRPr sz="1495" b="1">
                          <a:solidFill>
                            <a:srgbClr val="FFFFFF"/>
                          </a:solidFill>
                        </a:defRPr>
                      </a:pPr>
                      <a:r>
                        <a:rPr/>
                        <a:t>Dominant logic</a:t>
                      </a:r>
                    </a:p>
                  </a:txBody>
                  <a:tcPr>
                    <a:solidFill>
                      <a:srgbClr val="1F3A5F"/>
                    </a:solidFill>
                  </a:tcPr>
                </a:tc>
              </a:tr>
              <a:tr h="310896">
                <a:tc>
                  <a:txBody>
                    <a:bodyPr/>
                    <a:lstStyle/>
                    <a:p>
                      <a:pPr>
                        <a:defRPr sz="1380">
                          <a:solidFill>
                            <a:srgbClr val="44546A"/>
                          </a:solidFill>
                        </a:defRPr>
                      </a:pPr>
                      <a:r>
                        <a:rPr/>
                        <a:t>PG1</a:t>
                      </a:r>
                    </a:p>
                  </a:txBody>
                  <a:tcPr>
                    <a:solidFill>
                      <a:srgbClr val="FFFFFF"/>
                    </a:solidFill>
                  </a:tcPr>
                </a:tc>
                <a:tc>
                  <a:txBody>
                    <a:bodyPr/>
                    <a:lstStyle/>
                    <a:p>
                      <a:pPr>
                        <a:defRPr sz="1380">
                          <a:solidFill>
                            <a:srgbClr val="44546A"/>
                          </a:solidFill>
                        </a:defRPr>
                      </a:pPr>
                      <a:r>
                        <a:rPr/>
                        <a:t>PC / Fetch</a:t>
                      </a:r>
                    </a:p>
                  </a:txBody>
                  <a:tcPr>
                    <a:solidFill>
                      <a:srgbClr val="FFFFFF"/>
                    </a:solidFill>
                  </a:tcPr>
                </a:tc>
                <a:tc>
                  <a:txBody>
                    <a:bodyPr/>
                    <a:lstStyle/>
                    <a:p>
                      <a:pPr>
                        <a:defRPr sz="1380">
                          <a:solidFill>
                            <a:srgbClr val="44546A"/>
                          </a:solidFill>
                        </a:defRPr>
                      </a:pPr>
                      <a:r>
                        <a:rPr/>
                        <a:t>pcreg → pcreg</a:t>
                      </a:r>
                    </a:p>
                  </a:txBody>
                  <a:tcPr>
                    <a:solidFill>
                      <a:srgbClr val="FFFFFF"/>
                    </a:solidFill>
                  </a:tcPr>
                </a:tc>
                <a:tc>
                  <a:txBody>
                    <a:bodyPr/>
                    <a:lstStyle/>
                    <a:p>
                      <a:pPr>
                        <a:defRPr sz="1380">
                          <a:solidFill>
                            <a:srgbClr val="44546A"/>
                          </a:solidFill>
                        </a:defRPr>
                      </a:pPr>
                      <a:r>
                        <a:rPr/>
                        <a:t>adder(+4/+imm), pcmux, flopr</a:t>
                      </a:r>
                    </a:p>
                  </a:txBody>
                  <a:tcPr>
                    <a:solidFill>
                      <a:srgbClr val="FFFFFF"/>
                    </a:solidFill>
                  </a:tcPr>
                </a:tc>
              </a:tr>
              <a:tr h="310896">
                <a:tc>
                  <a:txBody>
                    <a:bodyPr/>
                    <a:lstStyle/>
                    <a:p>
                      <a:pPr>
                        <a:defRPr sz="1380">
                          <a:solidFill>
                            <a:srgbClr val="44546A"/>
                          </a:solidFill>
                        </a:defRPr>
                      </a:pPr>
                      <a:r>
                        <a:rPr/>
                        <a:t>PG2</a:t>
                      </a:r>
                    </a:p>
                  </a:txBody>
                  <a:tcPr>
                    <a:solidFill>
                      <a:srgbClr val="EEF2F7"/>
                    </a:solidFill>
                  </a:tcPr>
                </a:tc>
                <a:tc>
                  <a:txBody>
                    <a:bodyPr/>
                    <a:lstStyle/>
                    <a:p>
                      <a:pPr>
                        <a:defRPr sz="1380">
                          <a:solidFill>
                            <a:srgbClr val="44546A"/>
                          </a:solidFill>
                        </a:defRPr>
                      </a:pPr>
                      <a:r>
                        <a:rPr/>
                        <a:t>ALU write-back</a:t>
                      </a:r>
                    </a:p>
                  </a:txBody>
                  <a:tcPr>
                    <a:solidFill>
                      <a:srgbClr val="EEF2F7"/>
                    </a:solidFill>
                  </a:tcPr>
                </a:tc>
                <a:tc>
                  <a:txBody>
                    <a:bodyPr/>
                    <a:lstStyle/>
                    <a:p>
                      <a:pPr>
                        <a:defRPr sz="1380">
                          <a:solidFill>
                            <a:srgbClr val="44546A"/>
                          </a:solidFill>
                        </a:defRPr>
                      </a:pPr>
                      <a:r>
                        <a:rPr/>
                        <a:t>regfile → regfile</a:t>
                      </a:r>
                    </a:p>
                  </a:txBody>
                  <a:tcPr>
                    <a:solidFill>
                      <a:srgbClr val="EEF2F7"/>
                    </a:solidFill>
                  </a:tcPr>
                </a:tc>
                <a:tc>
                  <a:txBody>
                    <a:bodyPr/>
                    <a:lstStyle/>
                    <a:p>
                      <a:pPr>
                        <a:defRPr sz="1380">
                          <a:solidFill>
                            <a:srgbClr val="44546A"/>
                          </a:solidFill>
                        </a:defRPr>
                      </a:pPr>
                      <a:r>
                        <a:rPr/>
                        <a:t>rs1mux, memsrcmux, alu, srccmux, resmux</a:t>
                      </a:r>
                    </a:p>
                  </a:txBody>
                  <a:tcPr>
                    <a:solidFill>
                      <a:srgbClr val="EEF2F7"/>
                    </a:solidFill>
                  </a:tcPr>
                </a:tc>
              </a:tr>
              <a:tr h="310896">
                <a:tc>
                  <a:txBody>
                    <a:bodyPr/>
                    <a:lstStyle/>
                    <a:p>
                      <a:pPr>
                        <a:defRPr sz="1380">
                          <a:solidFill>
                            <a:srgbClr val="44546A"/>
                          </a:solidFill>
                        </a:defRPr>
                      </a:pPr>
                      <a:r>
                        <a:rPr/>
                        <a:t>PG3</a:t>
                      </a:r>
                    </a:p>
                  </a:txBody>
                  <a:tcPr>
                    <a:solidFill>
                      <a:srgbClr val="FFFFFF"/>
                    </a:solidFill>
                  </a:tcPr>
                </a:tc>
                <a:tc>
                  <a:txBody>
                    <a:bodyPr/>
                    <a:lstStyle/>
                    <a:p>
                      <a:pPr>
                        <a:defRPr sz="1380">
                          <a:solidFill>
                            <a:srgbClr val="44546A"/>
                          </a:solidFill>
                        </a:defRPr>
                      </a:pPr>
                      <a:r>
                        <a:rPr/>
                        <a:t>Shift write-back</a:t>
                      </a:r>
                    </a:p>
                  </a:txBody>
                  <a:tcPr>
                    <a:solidFill>
                      <a:srgbClr val="FFFFFF"/>
                    </a:solidFill>
                  </a:tcPr>
                </a:tc>
                <a:tc>
                  <a:txBody>
                    <a:bodyPr/>
                    <a:lstStyle/>
                    <a:p>
                      <a:pPr>
                        <a:defRPr sz="1380">
                          <a:solidFill>
                            <a:srgbClr val="44546A"/>
                          </a:solidFill>
                        </a:defRPr>
                      </a:pPr>
                      <a:r>
                        <a:rPr/>
                        <a:t>regfile → regfile</a:t>
                      </a:r>
                    </a:p>
                  </a:txBody>
                  <a:tcPr>
                    <a:solidFill>
                      <a:srgbClr val="FFFFFF"/>
                    </a:solidFill>
                  </a:tcPr>
                </a:tc>
                <a:tc>
                  <a:txBody>
                    <a:bodyPr/>
                    <a:lstStyle/>
                    <a:p>
                      <a:pPr>
                        <a:defRPr sz="1380">
                          <a:solidFill>
                            <a:srgbClr val="44546A"/>
                          </a:solidFill>
                        </a:defRPr>
                      </a:pPr>
                      <a:r>
                        <a:rPr/>
                        <a:t>shifter, srccmux, resmux</a:t>
                      </a:r>
                    </a:p>
                  </a:txBody>
                  <a:tcPr>
                    <a:solidFill>
                      <a:srgbClr val="FFFFFF"/>
                    </a:solidFill>
                  </a:tcPr>
                </a:tc>
              </a:tr>
              <a:tr h="310896">
                <a:tc>
                  <a:txBody>
                    <a:bodyPr/>
                    <a:lstStyle/>
                    <a:p>
                      <a:pPr>
                        <a:defRPr sz="1380">
                          <a:solidFill>
                            <a:srgbClr val="44546A"/>
                          </a:solidFill>
                        </a:defRPr>
                      </a:pPr>
                      <a:r>
                        <a:rPr/>
                        <a:t>PG4</a:t>
                      </a:r>
                    </a:p>
                  </a:txBody>
                  <a:tcPr>
                    <a:solidFill>
                      <a:srgbClr val="EEF2F7"/>
                    </a:solidFill>
                  </a:tcPr>
                </a:tc>
                <a:tc>
                  <a:txBody>
                    <a:bodyPr/>
                    <a:lstStyle/>
                    <a:p>
                      <a:pPr>
                        <a:defRPr sz="1380">
                          <a:solidFill>
                            <a:srgbClr val="44546A"/>
                          </a:solidFill>
                        </a:defRPr>
                      </a:pPr>
                      <a:r>
                        <a:rPr/>
                        <a:t>Memory (LSU)</a:t>
                      </a:r>
                    </a:p>
                  </a:txBody>
                  <a:tcPr>
                    <a:solidFill>
                      <a:srgbClr val="EEF2F7"/>
                    </a:solidFill>
                  </a:tcPr>
                </a:tc>
                <a:tc>
                  <a:txBody>
                    <a:bodyPr/>
                    <a:lstStyle/>
                    <a:p>
                      <a:pPr>
                        <a:defRPr sz="1380">
                          <a:solidFill>
                            <a:srgbClr val="44546A"/>
                          </a:solidFill>
                        </a:defRPr>
                      </a:pPr>
                      <a:r>
                        <a:rPr/>
                        <a:t>readdata→rf / rf→writedata</a:t>
                      </a:r>
                    </a:p>
                  </a:txBody>
                  <a:tcPr>
                    <a:solidFill>
                      <a:srgbClr val="EEF2F7"/>
                    </a:solidFill>
                  </a:tcPr>
                </a:tc>
                <a:tc>
                  <a:txBody>
                    <a:bodyPr/>
                    <a:lstStyle/>
                    <a:p>
                      <a:pPr>
                        <a:defRPr sz="1380">
                          <a:solidFill>
                            <a:srgbClr val="44546A"/>
                          </a:solidFill>
                        </a:defRPr>
                      </a:pPr>
                      <a:r>
                        <a:rPr/>
                        <a:t>halfbytemux1/2, resmux</a:t>
                      </a:r>
                    </a:p>
                  </a:txBody>
                  <a:tcPr>
                    <a:solidFill>
                      <a:srgbClr val="EEF2F7"/>
                    </a:solidFill>
                  </a:tcPr>
                </a:tc>
              </a:tr>
              <a:tr h="310896">
                <a:tc>
                  <a:txBody>
                    <a:bodyPr/>
                    <a:lstStyle/>
                    <a:p>
                      <a:pPr>
                        <a:defRPr sz="1380">
                          <a:solidFill>
                            <a:srgbClr val="44546A"/>
                          </a:solidFill>
                        </a:defRPr>
                      </a:pPr>
                      <a:r>
                        <a:rPr/>
                        <a:t>PG5</a:t>
                      </a:r>
                    </a:p>
                  </a:txBody>
                  <a:tcPr>
                    <a:solidFill>
                      <a:srgbClr val="FFFFFF"/>
                    </a:solidFill>
                  </a:tcPr>
                </a:tc>
                <a:tc>
                  <a:txBody>
                    <a:bodyPr/>
                    <a:lstStyle/>
                    <a:p>
                      <a:pPr>
                        <a:defRPr sz="1380">
                          <a:solidFill>
                            <a:srgbClr val="44546A"/>
                          </a:solidFill>
                        </a:defRPr>
                      </a:pPr>
                      <a:r>
                        <a:rPr/>
                        <a:t>Branch compare</a:t>
                      </a:r>
                    </a:p>
                  </a:txBody>
                  <a:tcPr>
                    <a:solidFill>
                      <a:srgbClr val="FFFFFF"/>
                    </a:solidFill>
                  </a:tcPr>
                </a:tc>
                <a:tc>
                  <a:txBody>
                    <a:bodyPr/>
                    <a:lstStyle/>
                    <a:p>
                      <a:pPr>
                        <a:defRPr sz="1380">
                          <a:solidFill>
                            <a:srgbClr val="44546A"/>
                          </a:solidFill>
                        </a:defRPr>
                      </a:pPr>
                      <a:r>
                        <a:rPr/>
                        <a:t>regfile → pcreg</a:t>
                      </a:r>
                    </a:p>
                  </a:txBody>
                  <a:tcPr>
                    <a:solidFill>
                      <a:srgbClr val="FFFFFF"/>
                    </a:solidFill>
                  </a:tcPr>
                </a:tc>
                <a:tc>
                  <a:txBody>
                    <a:bodyPr/>
                    <a:lstStyle/>
                    <a:p>
                      <a:pPr>
                        <a:defRPr sz="1380">
                          <a:solidFill>
                            <a:srgbClr val="44546A"/>
                          </a:solidFill>
                        </a:defRPr>
                      </a:pPr>
                      <a:r>
                        <a:rPr/>
                        <a:t>magcompare32 → controller.pcsrc</a:t>
                      </a:r>
                    </a:p>
                  </a:txBody>
                  <a:tcPr>
                    <a:solidFill>
                      <a:srgbClr val="FFFFFF"/>
                    </a:solidFill>
                  </a:tcPr>
                </a:tc>
              </a:tr>
              <a:tr h="310896">
                <a:tc>
                  <a:txBody>
                    <a:bodyPr/>
                    <a:lstStyle/>
                    <a:p>
                      <a:pPr>
                        <a:defRPr sz="1380">
                          <a:solidFill>
                            <a:srgbClr val="44546A"/>
                          </a:solidFill>
                        </a:defRPr>
                      </a:pPr>
                      <a:r>
                        <a:rPr/>
                        <a:t>PG6</a:t>
                      </a:r>
                    </a:p>
                  </a:txBody>
                  <a:tcPr>
                    <a:solidFill>
                      <a:srgbClr val="EEF2F7"/>
                    </a:solidFill>
                  </a:tcPr>
                </a:tc>
                <a:tc>
                  <a:txBody>
                    <a:bodyPr/>
                    <a:lstStyle/>
                    <a:p>
                      <a:pPr>
                        <a:defRPr sz="1380">
                          <a:solidFill>
                            <a:srgbClr val="44546A"/>
                          </a:solidFill>
                        </a:defRPr>
                      </a:pPr>
                      <a:r>
                        <a:rPr/>
                        <a:t>Decode / Control</a:t>
                      </a:r>
                    </a:p>
                  </a:txBody>
                  <a:tcPr>
                    <a:solidFill>
                      <a:srgbClr val="EEF2F7"/>
                    </a:solidFill>
                  </a:tcPr>
                </a:tc>
                <a:tc>
                  <a:txBody>
                    <a:bodyPr/>
                    <a:lstStyle/>
                    <a:p>
                      <a:pPr>
                        <a:defRPr sz="1380">
                          <a:solidFill>
                            <a:srgbClr val="44546A"/>
                          </a:solidFill>
                        </a:defRPr>
                      </a:pPr>
                      <a:r>
                        <a:rPr/>
                        <a:t>instr → ctrl bus</a:t>
                      </a:r>
                    </a:p>
                  </a:txBody>
                  <a:tcPr>
                    <a:solidFill>
                      <a:srgbClr val="EEF2F7"/>
                    </a:solidFill>
                  </a:tcPr>
                </a:tc>
                <a:tc>
                  <a:txBody>
                    <a:bodyPr/>
                    <a:lstStyle/>
                    <a:p>
                      <a:pPr>
                        <a:defRPr sz="1380">
                          <a:solidFill>
                            <a:srgbClr val="44546A"/>
                          </a:solidFill>
                        </a:defRPr>
                      </a:pPr>
                      <a:r>
                        <a:rPr/>
                        <a:t>controller (maindec, aludec)</a:t>
                      </a:r>
                    </a:p>
                  </a:txBody>
                  <a:tcPr>
                    <a:solidFill>
                      <a:srgbClr val="EEF2F7"/>
                    </a:solidFill>
                  </a:tcPr>
                </a:tc>
              </a:tr>
              <a:tr h="310896">
                <a:tc>
                  <a:txBody>
                    <a:bodyPr/>
                    <a:lstStyle/>
                    <a:p>
                      <a:pPr>
                        <a:defRPr sz="1380">
                          <a:solidFill>
                            <a:srgbClr val="44546A"/>
                          </a:solidFill>
                        </a:defRPr>
                      </a:pPr>
                      <a:r>
                        <a:rPr/>
                        <a:t>PG7</a:t>
                      </a:r>
                    </a:p>
                  </a:txBody>
                  <a:tcPr>
                    <a:solidFill>
                      <a:srgbClr val="FFFFFF"/>
                    </a:solidFill>
                  </a:tcPr>
                </a:tc>
                <a:tc>
                  <a:txBody>
                    <a:bodyPr/>
                    <a:lstStyle/>
                    <a:p>
                      <a:pPr>
                        <a:defRPr sz="1380">
                          <a:solidFill>
                            <a:srgbClr val="44546A"/>
                          </a:solidFill>
                        </a:defRPr>
                      </a:pPr>
                      <a:r>
                        <a:rPr/>
                        <a:t>Immediate</a:t>
                      </a:r>
                    </a:p>
                  </a:txBody>
                  <a:tcPr>
                    <a:solidFill>
                      <a:srgbClr val="FFFFFF"/>
                    </a:solidFill>
                  </a:tcPr>
                </a:tc>
                <a:tc>
                  <a:txBody>
                    <a:bodyPr/>
                    <a:lstStyle/>
                    <a:p>
                      <a:pPr>
                        <a:defRPr sz="1380">
                          <a:solidFill>
                            <a:srgbClr val="44546A"/>
                          </a:solidFill>
                        </a:defRPr>
                      </a:pPr>
                      <a:r>
                        <a:rPr/>
                        <a:t>instr → alu/pcreg</a:t>
                      </a:r>
                    </a:p>
                  </a:txBody>
                  <a:tcPr>
                    <a:solidFill>
                      <a:srgbClr val="FFFFFF"/>
                    </a:solidFill>
                  </a:tcPr>
                </a:tc>
                <a:tc>
                  <a:txBody>
                    <a:bodyPr/>
                    <a:lstStyle/>
                    <a:p>
                      <a:pPr>
                        <a:defRPr sz="1380">
                          <a:solidFill>
                            <a:srgbClr val="44546A"/>
                          </a:solidFill>
                        </a:defRPr>
                      </a:pPr>
                      <a:r>
                        <a:rPr/>
                        <a:t>signext(mux5), pcextmux, adder</a:t>
                      </a:r>
                    </a:p>
                  </a:txBody>
                  <a:tcPr>
                    <a:solidFill>
                      <a:srgbClr val="FFFFFF"/>
                    </a:solidFill>
                  </a:tcPr>
                </a:tc>
              </a:tr>
              <a:tr h="310896">
                <a:tc>
                  <a:txBody>
                    <a:bodyPr/>
                    <a:lstStyle/>
                    <a:p>
                      <a:pPr>
                        <a:defRPr sz="1380">
                          <a:solidFill>
                            <a:srgbClr val="44546A"/>
                          </a:solidFill>
                        </a:defRPr>
                      </a:pPr>
                      <a:r>
                        <a:rPr/>
                        <a:t>PG8</a:t>
                      </a:r>
                    </a:p>
                  </a:txBody>
                  <a:tcPr>
                    <a:solidFill>
                      <a:srgbClr val="EEF2F7"/>
                    </a:solidFill>
                  </a:tcPr>
                </a:tc>
                <a:tc>
                  <a:txBody>
                    <a:bodyPr/>
                    <a:lstStyle/>
                    <a:p>
                      <a:pPr>
                        <a:defRPr sz="1380">
                          <a:solidFill>
                            <a:srgbClr val="44546A"/>
                          </a:solidFill>
                        </a:defRPr>
                      </a:pPr>
                      <a:r>
                        <a:rPr/>
                        <a:t>Output / Exception</a:t>
                      </a:r>
                    </a:p>
                  </a:txBody>
                  <a:tcPr>
                    <a:solidFill>
                      <a:srgbClr val="EEF2F7"/>
                    </a:solidFill>
                  </a:tcPr>
                </a:tc>
                <a:tc>
                  <a:txBody>
                    <a:bodyPr/>
                    <a:lstStyle/>
                    <a:p>
                      <a:pPr>
                        <a:defRPr sz="1380">
                          <a:solidFill>
                            <a:srgbClr val="44546A"/>
                          </a:solidFill>
                        </a:defRPr>
                      </a:pPr>
                      <a:r>
                        <a:rPr/>
                        <a:t>regfile → aluout; pcreg → SEPC</a:t>
                      </a:r>
                    </a:p>
                  </a:txBody>
                  <a:tcPr>
                    <a:solidFill>
                      <a:srgbClr val="EEF2F7"/>
                    </a:solidFill>
                  </a:tcPr>
                </a:tc>
                <a:tc>
                  <a:txBody>
                    <a:bodyPr/>
                    <a:lstStyle/>
                    <a:p>
                      <a:pPr>
                        <a:defRPr sz="1380">
                          <a:solidFill>
                            <a:srgbClr val="44546A"/>
                          </a:solidFill>
                        </a:defRPr>
                      </a:pPr>
                      <a:r>
                        <a:rPr/>
                        <a:t>srccmux, flopenr</a:t>
                      </a:r>
                    </a:p>
                  </a:txBody>
                  <a:tcPr>
                    <a:solidFill>
                      <a:srgbClr val="EEF2F7"/>
                    </a:solidFill>
                  </a:tcPr>
                </a:tc>
              </a:tr>
            </a:tbl>
          </a:graphicData>
        </a:graphic>
      </p:graphicFrame>
      <p:sp>
        <p:nvSpPr>
          <p:cNvPr id="4" name="TextBox 3"/>
          <p:cNvSpPr txBox="1"/>
          <p:nvPr/>
        </p:nvSpPr>
        <p:spPr>
          <a:xfrm>
            <a:off x="548640" y="4206240"/>
            <a:ext cx="11064240" cy="2377440"/>
          </a:xfrm>
          <a:prstGeom prst="rect">
            <a:avLst/>
          </a:prstGeom>
          <a:noFill/>
        </p:spPr>
        <p:txBody>
          <a:bodyPr wrap="square">
            <a:spAutoFit/>
          </a:bodyPr>
          <a:lstStyle/>
          <a:p>
            <a:pPr>
              <a:spcAft>
                <a:spcPts val="700"/>
              </a:spcAft>
              <a:defRPr sz="1725">
                <a:solidFill>
                  <a:srgbClr val="1F3A5F"/>
                </a:solidFill>
              </a:defRPr>
            </a:pPr>
            <a:r>
              <a:rPr/>
              <a:t>• Fetch: pcreg → adder(+4) / adder(+imm) → pcmux(pcsrc) → pcreg</a:t>
            </a:r>
          </a:p>
          <a:p>
            <a:pPr>
              <a:spcAft>
                <a:spcPts val="700"/>
              </a:spcAft>
              <a:defRPr sz="1725">
                <a:solidFill>
                  <a:srgbClr val="1F3A5F"/>
                </a:solidFill>
              </a:defRPr>
            </a:pPr>
            <a:r>
              <a:rPr/>
              <a:t>• Decode &amp; read: instr → controller (maindec, aludec); regfile rd1→srca2, rd2→writedata</a:t>
            </a:r>
          </a:p>
          <a:p>
            <a:pPr>
              <a:spcAft>
                <a:spcPts val="700"/>
              </a:spcAft>
              <a:defRPr sz="1725">
                <a:solidFill>
                  <a:srgbClr val="1F3A5F"/>
                </a:solidFill>
              </a:defRPr>
            </a:pPr>
            <a:r>
              <a:rPr/>
              <a:t>• Immediate: instr → signext(mux5) → pcextmux → adders / ALU B-operand</a:t>
            </a:r>
          </a:p>
          <a:p>
            <a:pPr>
              <a:spcAft>
                <a:spcPts val="700"/>
              </a:spcAft>
              <a:defRPr sz="1725">
                <a:solidFill>
                  <a:srgbClr val="1F3A5F"/>
                </a:solidFill>
              </a:defRPr>
            </a:pPr>
            <a:r>
              <a:rPr/>
              <a:t>• Execute &amp; compare: alu / shifter → srccmux → aluout; magcompare32 → gt/lt/eq → pcsrc</a:t>
            </a:r>
          </a:p>
          <a:p>
            <a:pPr>
              <a:spcAft>
                <a:spcPts val="700"/>
              </a:spcAft>
              <a:defRPr sz="1725">
                <a:solidFill>
                  <a:srgbClr val="1F3A5F"/>
                </a:solidFill>
              </a:defRPr>
            </a:pPr>
            <a:r>
              <a:rPr/>
              <a:t>• Write-back: resmux(ALU/load) → storepcmux(link PC) → rf.wd3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AI-Driven Open-Source Flow &amp; Verification</a:t>
            </a:r>
          </a:p>
          <a:p>
            <a:pPr>
              <a:defRPr sz="1725">
                <a:solidFill>
                  <a:srgbClr val="C9D8EE"/>
                </a:solidFill>
              </a:defRPr>
            </a:pPr>
            <a:r>
              <a:rPr/>
              <a:t>100% open-source RTL→GDS, sign-off clean</a:t>
            </a:r>
          </a:p>
        </p:txBody>
      </p:sp>
      <p:sp>
        <p:nvSpPr>
          <p:cNvPr id="3" name="TextBox 2"/>
          <p:cNvSpPr txBox="1"/>
          <p:nvPr/>
        </p:nvSpPr>
        <p:spPr>
          <a:xfrm>
            <a:off x="548640" y="1325880"/>
            <a:ext cx="11064240" cy="2560320"/>
          </a:xfrm>
          <a:prstGeom prst="rect">
            <a:avLst/>
          </a:prstGeom>
          <a:noFill/>
        </p:spPr>
        <p:txBody>
          <a:bodyPr wrap="square">
            <a:spAutoFit/>
          </a:bodyPr>
          <a:lstStyle/>
          <a:p>
            <a:pPr>
              <a:spcAft>
                <a:spcPts val="700"/>
              </a:spcAft>
              <a:defRPr sz="1839">
                <a:solidFill>
                  <a:srgbClr val="1F3A5F"/>
                </a:solidFill>
              </a:defRPr>
            </a:pPr>
            <a:r>
              <a:rPr/>
              <a:t>• Synthesis — Yosys (≥ 0.69) → sky130_fd_sc_hd liberty</a:t>
            </a:r>
          </a:p>
          <a:p>
            <a:pPr>
              <a:spcAft>
                <a:spcPts val="700"/>
              </a:spcAft>
              <a:defRPr sz="1839">
                <a:solidFill>
                  <a:srgbClr val="1F3A5F"/>
                </a:solidFill>
              </a:defRPr>
            </a:pPr>
            <a:r>
              <a:rPr/>
              <a:t>• Floorplan / place / CTS / route — OpenROAD + OpenROAD Flow Scripts (version-matched)</a:t>
            </a:r>
          </a:p>
          <a:p>
            <a:pPr>
              <a:spcAft>
                <a:spcPts val="700"/>
              </a:spcAft>
              <a:defRPr sz="1839">
                <a:solidFill>
                  <a:srgbClr val="1F3A5F"/>
                </a:solidFill>
              </a:defRPr>
            </a:pPr>
            <a:r>
              <a:rPr/>
              <a:t>• GDS stream-out (OpenROAD / KLayout); DRC &amp; LVS (KLayout); SPEF extraction for STA</a:t>
            </a:r>
          </a:p>
          <a:p>
            <a:pPr>
              <a:spcAft>
                <a:spcPts val="700"/>
              </a:spcAft>
              <a:defRPr sz="1839">
                <a:solidFill>
                  <a:srgbClr val="1F3A5F"/>
                </a:solidFill>
              </a:defRPr>
            </a:pPr>
            <a:r>
              <a:rPr/>
              <a:t>• Logical equivalence — Kepler Formal (gate-level) + Yosys equiv_* (RTL vs synth)</a:t>
            </a:r>
          </a:p>
          <a:p>
            <a:pPr>
              <a:spcAft>
                <a:spcPts val="700"/>
              </a:spcAft>
              <a:defRPr sz="1839">
                <a:solidFill>
                  <a:srgbClr val="1F3A5F"/>
                </a:solidFill>
              </a:defRPr>
            </a:pPr>
            <a:r>
              <a:rPr/>
              <a:t>• AI agents orchestrated: toolchain bring-up, version matching, debugging, report/dashboard generation, goal-directed optimization</a:t>
            </a:r>
          </a:p>
        </p:txBody>
      </p:sp>
      <p:graphicFrame>
        <p:nvGraphicFramePr>
          <p:cNvPr id="4" name="Table 3"/>
          <p:cNvGraphicFramePr>
            <a:graphicFrameLocks noGrp="1"/>
          </p:cNvGraphicFramePr>
          <p:nvPr/>
        </p:nvGraphicFramePr>
        <p:xfrm>
          <a:off x="548640" y="4114800"/>
          <a:ext cx="11064240" cy="2176272"/>
        </p:xfrm>
        <a:graphic>
          <a:graphicData uri="http://schemas.openxmlformats.org/drawingml/2006/table">
            <a:tbl>
              <a:tblPr firstRow="1" bandRow="1">
                <a:tableStyleId>{5C22544A-7EE6-4342-B048-85BDC9FD1C3A}</a:tableStyleId>
              </a:tblPr>
              <a:tblGrid>
                <a:gridCol w="3291840"/>
                <a:gridCol w="5120640"/>
                <a:gridCol w="2651760"/>
              </a:tblGrid>
              <a:tr h="310896">
                <a:tc>
                  <a:txBody>
                    <a:bodyPr/>
                    <a:lstStyle/>
                    <a:p>
                      <a:pPr>
                        <a:defRPr sz="1495" b="1">
                          <a:solidFill>
                            <a:srgbClr val="FFFFFF"/>
                          </a:solidFill>
                        </a:defRPr>
                      </a:pPr>
                      <a:r>
                        <a:rPr/>
                        <a:t>Check</a:t>
                      </a:r>
                    </a:p>
                  </a:txBody>
                  <a:tcPr>
                    <a:solidFill>
                      <a:srgbClr val="1F3A5F"/>
                    </a:solidFill>
                  </a:tcPr>
                </a:tc>
                <a:tc>
                  <a:txBody>
                    <a:bodyPr/>
                    <a:lstStyle/>
                    <a:p>
                      <a:pPr>
                        <a:defRPr sz="1495" b="1">
                          <a:solidFill>
                            <a:srgbClr val="FFFFFF"/>
                          </a:solidFill>
                        </a:defRPr>
                      </a:pPr>
                      <a:r>
                        <a:rPr/>
                        <a:t>Tool / method</a:t>
                      </a:r>
                    </a:p>
                  </a:txBody>
                  <a:tcPr>
                    <a:solidFill>
                      <a:srgbClr val="1F3A5F"/>
                    </a:solidFill>
                  </a:tcPr>
                </a:tc>
                <a:tc>
                  <a:txBody>
                    <a:bodyPr/>
                    <a:lstStyle/>
                    <a:p>
                      <a:pPr>
                        <a:defRPr sz="1495" b="1">
                          <a:solidFill>
                            <a:srgbClr val="FFFFFF"/>
                          </a:solidFill>
                        </a:defRPr>
                      </a:pPr>
                      <a:r>
                        <a:rPr/>
                        <a:t>Result</a:t>
                      </a:r>
                    </a:p>
                  </a:txBody>
                  <a:tcPr>
                    <a:solidFill>
                      <a:srgbClr val="1F3A5F"/>
                    </a:solidFill>
                  </a:tcPr>
                </a:tc>
              </a:tr>
              <a:tr h="310896">
                <a:tc>
                  <a:txBody>
                    <a:bodyPr/>
                    <a:lstStyle/>
                    <a:p>
                      <a:pPr>
                        <a:defRPr sz="1380">
                          <a:solidFill>
                            <a:srgbClr val="44546A"/>
                          </a:solidFill>
                        </a:defRPr>
                      </a:pPr>
                      <a:r>
                        <a:rPr/>
                        <a:t>RTL ≡ synthesised netlist</a:t>
                      </a:r>
                    </a:p>
                  </a:txBody>
                  <a:tcPr>
                    <a:solidFill>
                      <a:srgbClr val="FFFFFF"/>
                    </a:solidFill>
                  </a:tcPr>
                </a:tc>
                <a:tc>
                  <a:txBody>
                    <a:bodyPr/>
                    <a:lstStyle/>
                    <a:p>
                      <a:pPr>
                        <a:defRPr sz="1380">
                          <a:solidFill>
                            <a:srgbClr val="44546A"/>
                          </a:solidFill>
                        </a:defRPr>
                      </a:pPr>
                      <a:r>
                        <a:rPr/>
                        <a:t>Yosys equiv_make / equiv_induct / equiv_status</a:t>
                      </a:r>
                    </a:p>
                  </a:txBody>
                  <a:tcPr>
                    <a:solidFill>
                      <a:srgbClr val="FFFFFF"/>
                    </a:solidFill>
                  </a:tcPr>
                </a:tc>
                <a:tc>
                  <a:txBody>
                    <a:bodyPr/>
                    <a:lstStyle/>
                    <a:p>
                      <a:pPr>
                        <a:defRPr sz="1380">
                          <a:solidFill>
                            <a:srgbClr val="44546A"/>
                          </a:solidFill>
                        </a:defRPr>
                      </a:pPr>
                      <a:r>
                        <a:rPr/>
                        <a:t>Proven</a:t>
                      </a:r>
                    </a:p>
                  </a:txBody>
                  <a:tcPr>
                    <a:solidFill>
                      <a:srgbClr val="FFFFFF"/>
                    </a:solidFill>
                  </a:tcPr>
                </a:tc>
              </a:tr>
              <a:tr h="310896">
                <a:tc>
                  <a:txBody>
                    <a:bodyPr/>
                    <a:lstStyle/>
                    <a:p>
                      <a:pPr>
                        <a:defRPr sz="1380">
                          <a:solidFill>
                            <a:srgbClr val="44546A"/>
                          </a:solidFill>
                        </a:defRPr>
                      </a:pPr>
                      <a:r>
                        <a:rPr/>
                        <a:t>Synth ≡ final routed netlist</a:t>
                      </a:r>
                    </a:p>
                  </a:txBody>
                  <a:tcPr>
                    <a:solidFill>
                      <a:srgbClr val="EEF2F7"/>
                    </a:solidFill>
                  </a:tcPr>
                </a:tc>
                <a:tc>
                  <a:txBody>
                    <a:bodyPr/>
                    <a:lstStyle/>
                    <a:p>
                      <a:pPr>
                        <a:defRPr sz="1380">
                          <a:solidFill>
                            <a:srgbClr val="44546A"/>
                          </a:solidFill>
                        </a:defRPr>
                      </a:pPr>
                      <a:r>
                        <a:rPr/>
                        <a:t>Kepler Formal (gate-level LEC, LEC_CHECK=1)</a:t>
                      </a:r>
                    </a:p>
                  </a:txBody>
                  <a:tcPr>
                    <a:solidFill>
                      <a:srgbClr val="EEF2F7"/>
                    </a:solidFill>
                  </a:tcPr>
                </a:tc>
                <a:tc>
                  <a:txBody>
                    <a:bodyPr/>
                    <a:lstStyle/>
                    <a:p>
                      <a:pPr>
                        <a:defRPr sz="1380">
                          <a:solidFill>
                            <a:srgbClr val="44546A"/>
                          </a:solidFill>
                        </a:defRPr>
                      </a:pPr>
                      <a:r>
                        <a:rPr/>
                        <a:t>Global output passed</a:t>
                      </a:r>
                    </a:p>
                  </a:txBody>
                  <a:tcPr>
                    <a:solidFill>
                      <a:srgbClr val="EEF2F7"/>
                    </a:solidFill>
                  </a:tcPr>
                </a:tc>
              </a:tr>
              <a:tr h="310896">
                <a:tc>
                  <a:txBody>
                    <a:bodyPr/>
                    <a:lstStyle/>
                    <a:p>
                      <a:pPr>
                        <a:defRPr sz="1380">
                          <a:solidFill>
                            <a:srgbClr val="44546A"/>
                          </a:solidFill>
                        </a:defRPr>
                      </a:pPr>
                      <a:r>
                        <a:rPr/>
                        <a:t>DRC</a:t>
                      </a:r>
                    </a:p>
                  </a:txBody>
                  <a:tcPr>
                    <a:solidFill>
                      <a:srgbClr val="FFFFFF"/>
                    </a:solidFill>
                  </a:tcPr>
                </a:tc>
                <a:tc>
                  <a:txBody>
                    <a:bodyPr/>
                    <a:lstStyle/>
                    <a:p>
                      <a:pPr>
                        <a:defRPr sz="1380">
                          <a:solidFill>
                            <a:srgbClr val="44546A"/>
                          </a:solidFill>
                        </a:defRPr>
                      </a:pPr>
                      <a:r>
                        <a:rPr/>
                        <a:t>KLayout sky130hd.lydrc</a:t>
                      </a:r>
                    </a:p>
                  </a:txBody>
                  <a:tcPr>
                    <a:solidFill>
                      <a:srgbClr val="FFFFFF"/>
                    </a:solidFill>
                  </a:tcPr>
                </a:tc>
                <a:tc>
                  <a:txBody>
                    <a:bodyPr/>
                    <a:lstStyle/>
                    <a:p>
                      <a:pPr>
                        <a:defRPr sz="1380">
                          <a:solidFill>
                            <a:srgbClr val="44546A"/>
                          </a:solidFill>
                        </a:defRPr>
                      </a:pPr>
                      <a:r>
                        <a:rPr/>
                        <a:t>0 violations</a:t>
                      </a:r>
                    </a:p>
                  </a:txBody>
                  <a:tcPr>
                    <a:solidFill>
                      <a:srgbClr val="FFFFFF"/>
                    </a:solidFill>
                  </a:tcPr>
                </a:tc>
              </a:tr>
              <a:tr h="310896">
                <a:tc>
                  <a:txBody>
                    <a:bodyPr/>
                    <a:lstStyle/>
                    <a:p>
                      <a:pPr>
                        <a:defRPr sz="1380">
                          <a:solidFill>
                            <a:srgbClr val="44546A"/>
                          </a:solidFill>
                        </a:defRPr>
                      </a:pPr>
                      <a:r>
                        <a:rPr/>
                        <a:t>LVS</a:t>
                      </a:r>
                    </a:p>
                  </a:txBody>
                  <a:tcPr>
                    <a:solidFill>
                      <a:srgbClr val="EEF2F7"/>
                    </a:solidFill>
                  </a:tcPr>
                </a:tc>
                <a:tc>
                  <a:txBody>
                    <a:bodyPr/>
                    <a:lstStyle/>
                    <a:p>
                      <a:pPr>
                        <a:defRPr sz="1380">
                          <a:solidFill>
                            <a:srgbClr val="44546A"/>
                          </a:solidFill>
                        </a:defRPr>
                      </a:pPr>
                      <a:r>
                        <a:rPr/>
                        <a:t>KLayout sky130hd.lylvs (+ Magic/netgen)</a:t>
                      </a:r>
                    </a:p>
                  </a:txBody>
                  <a:tcPr>
                    <a:solidFill>
                      <a:srgbClr val="EEF2F7"/>
                    </a:solidFill>
                  </a:tcPr>
                </a:tc>
                <a:tc>
                  <a:txBody>
                    <a:bodyPr/>
                    <a:lstStyle/>
                    <a:p>
                      <a:pPr>
                        <a:defRPr sz="1380">
                          <a:solidFill>
                            <a:srgbClr val="44546A"/>
                          </a:solidFill>
                        </a:defRPr>
                      </a:pPr>
                      <a:r>
                        <a:rPr/>
                        <a:t>Netlists match</a:t>
                      </a:r>
                    </a:p>
                  </a:txBody>
                  <a:tcPr>
                    <a:solidFill>
                      <a:srgbClr val="EEF2F7"/>
                    </a:solidFill>
                  </a:tcPr>
                </a:tc>
              </a:tr>
              <a:tr h="310896">
                <a:tc>
                  <a:txBody>
                    <a:bodyPr/>
                    <a:lstStyle/>
                    <a:p>
                      <a:pPr>
                        <a:defRPr sz="1380">
                          <a:solidFill>
                            <a:srgbClr val="44546A"/>
                          </a:solidFill>
                        </a:defRPr>
                      </a:pPr>
                      <a:r>
                        <a:rPr/>
                        <a:t>Timing sign-off</a:t>
                      </a:r>
                    </a:p>
                  </a:txBody>
                  <a:tcPr>
                    <a:solidFill>
                      <a:srgbClr val="FFFFFF"/>
                    </a:solidFill>
                  </a:tcPr>
                </a:tc>
                <a:tc>
                  <a:txBody>
                    <a:bodyPr/>
                    <a:lstStyle/>
                    <a:p>
                      <a:pPr>
                        <a:defRPr sz="1380">
                          <a:solidFill>
                            <a:srgbClr val="44546A"/>
                          </a:solidFill>
                        </a:defRPr>
                      </a:pPr>
                      <a:r>
                        <a:rPr/>
                        <a:t>OpenROAD STA (report_checks), SDC 7.0 ns</a:t>
                      </a:r>
                    </a:p>
                  </a:txBody>
                  <a:tcPr>
                    <a:solidFill>
                      <a:srgbClr val="FFFFFF"/>
                    </a:solidFill>
                  </a:tcPr>
                </a:tc>
                <a:tc>
                  <a:txBody>
                    <a:bodyPr/>
                    <a:lstStyle/>
                    <a:p>
                      <a:pPr>
                        <a:defRPr sz="1380">
                          <a:solidFill>
                            <a:srgbClr val="44546A"/>
                          </a:solidFill>
                        </a:defRPr>
                      </a:pPr>
                      <a:r>
                        <a:rPr/>
                        <a:t>WNS/TNS 0.00 ns, hold MET</a:t>
                      </a:r>
                    </a:p>
                  </a:txBody>
                  <a:tcPr>
                    <a:solidFill>
                      <a:srgbClr val="FFFFFF"/>
                    </a:solidFill>
                  </a:tcPr>
                </a:tc>
              </a:tr>
              <a:tr h="310896">
                <a:tc>
                  <a:txBody>
                    <a:bodyPr/>
                    <a:lstStyle/>
                    <a:p>
                      <a:pPr>
                        <a:defRPr sz="1380">
                          <a:solidFill>
                            <a:srgbClr val="44546A"/>
                          </a:solidFill>
                        </a:defRPr>
                      </a:pPr>
                      <a:r>
                        <a:rPr/>
                        <a:t>Simulation / equivalence</a:t>
                      </a:r>
                    </a:p>
                  </a:txBody>
                  <a:tcPr>
                    <a:solidFill>
                      <a:srgbClr val="EEF2F7"/>
                    </a:solidFill>
                  </a:tcPr>
                </a:tc>
                <a:tc>
                  <a:txBody>
                    <a:bodyPr/>
                    <a:lstStyle/>
                    <a:p>
                      <a:pPr>
                        <a:defRPr sz="1380">
                          <a:solidFill>
                            <a:srgbClr val="44546A"/>
                          </a:solidFill>
                        </a:defRPr>
                      </a:pPr>
                      <a:r>
                        <a:rPr/>
                        <a:t>Yosys formal + SAT (counter-example free)</a:t>
                      </a:r>
                    </a:p>
                  </a:txBody>
                  <a:tcPr>
                    <a:solidFill>
                      <a:srgbClr val="EEF2F7"/>
                    </a:solidFill>
                  </a:tcPr>
                </a:tc>
                <a:tc>
                  <a:txBody>
                    <a:bodyPr/>
                    <a:lstStyle/>
                    <a:p>
                      <a:pPr>
                        <a:defRPr sz="1380">
                          <a:solidFill>
                            <a:srgbClr val="44546A"/>
                          </a:solidFill>
                        </a:defRPr>
                      </a:pPr>
                      <a:r>
                        <a:rPr/>
                        <a:t>Pass</a:t>
                      </a:r>
                    </a:p>
                  </a:txBody>
                  <a:tcPr>
                    <a:solidFill>
                      <a:srgbClr val="EEF2F7"/>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Simulation Replay — pre-sim vs post-sim</a:t>
            </a:r>
          </a:p>
          <a:p>
            <a:pPr>
              <a:defRPr sz="1725">
                <a:solidFill>
                  <a:srgbClr val="C9D8EE"/>
                </a:solidFill>
              </a:defRPr>
            </a:pPr>
            <a:r>
              <a:rPr/>
              <a:t>pre-layout RTL vs post-layout routed gate-level — consistency-checked; animates in slide-show mode (press F5)</a:t>
            </a:r>
          </a:p>
        </p:txBody>
      </p:sp>
      <p:pic>
        <p:nvPicPr>
          <p:cNvPr id="3" name="Picture 2" descr="riscv32i_sim.gif"/>
          <p:cNvPicPr>
            <a:picLocks noChangeAspect="1"/>
          </p:cNvPicPr>
          <p:nvPr/>
        </p:nvPicPr>
        <p:blipFill>
          <a:blip r:embed="rId2"/>
          <a:stretch>
            <a:fillRect/>
          </a:stretch>
        </p:blipFill>
        <p:spPr>
          <a:xfrm>
            <a:off x="1981047" y="1280160"/>
            <a:ext cx="8229600" cy="4937760"/>
          </a:xfrm>
          <a:prstGeom prst="rect">
            <a:avLst/>
          </a:prstGeom>
        </p:spPr>
      </p:pic>
      <p:sp>
        <p:nvSpPr>
          <p:cNvPr id="4" name="TextBox 3"/>
          <p:cNvSpPr txBox="1"/>
          <p:nvPr/>
        </p:nvSpPr>
        <p:spPr>
          <a:xfrm>
            <a:off x="548640" y="6291072"/>
            <a:ext cx="11064240" cy="502920"/>
          </a:xfrm>
          <a:prstGeom prst="rect">
            <a:avLst/>
          </a:prstGeom>
          <a:noFill/>
        </p:spPr>
        <p:txBody>
          <a:bodyPr wrap="square">
            <a:spAutoFit/>
          </a:bodyPr>
          <a:lstStyle/>
          <a:p>
            <a:pPr>
              <a:defRPr/>
            </a:pPr>
            <a:r>
              <a:rPr b="0" sz="1609">
                <a:solidFill>
                  <a:srgbClr val="44546A"/>
                </a:solidFill>
              </a:rPr>
              <a:t>Consistency replay of the 125-cycle directed test: </a:t>
            </a:r>
            <a:r>
              <a:rPr b="1" sz="1609">
                <a:solidFill>
                  <a:srgbClr val="1F3A5F"/>
                </a:solidFill>
              </a:rPr>
              <a:t>pre-sim (RTL)</a:t>
            </a:r>
            <a:r>
              <a:rPr b="0" sz="1609">
                <a:solidFill>
                  <a:srgbClr val="44546A"/>
                </a:solidFill>
              </a:rPr>
              <a:t> and </a:t>
            </a:r>
            <a:r>
              <a:rPr b="1" sz="1609">
                <a:solidFill>
                  <a:srgbClr val="1F3A5F"/>
                </a:solidFill>
              </a:rPr>
              <a:t>post-sim (routed gate netlist)</a:t>
            </a:r>
            <a:r>
              <a:rPr b="0" sz="1609">
                <a:solidFill>
                  <a:srgbClr val="44546A"/>
                </a:solidFill>
              </a:rPr>
              <a:t> stepped side by side, plus the </a:t>
            </a:r>
            <a:r>
              <a:rPr b="1" sz="1609">
                <a:solidFill>
                  <a:srgbClr val="1F3A5F"/>
                </a:solidFill>
              </a:rPr>
              <a:t>SDF-annotated</a:t>
            </a:r>
            <a:r>
              <a:rPr b="0" sz="1609">
                <a:solidFill>
                  <a:srgbClr val="44546A"/>
                </a:solidFill>
              </a:rPr>
              <a:t> run.  </a:t>
            </a:r>
            <a:r>
              <a:rPr b="1" sz="1609">
                <a:solidFill>
                  <a:srgbClr val="1F3A5F"/>
                </a:solidFill>
              </a:rPr>
              <a:t>Per-cycle diff: 126/126 lines identical, 0 differing · 36/36 memory writes match — OVERALL: PASS.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Physical-Design Flow</a:t>
            </a:r>
          </a:p>
        </p:txBody>
      </p:sp>
      <p:sp>
        <p:nvSpPr>
          <p:cNvPr id="3" name="TextBox 2"/>
          <p:cNvSpPr txBox="1"/>
          <p:nvPr/>
        </p:nvSpPr>
        <p:spPr>
          <a:xfrm>
            <a:off x="548640" y="1371600"/>
            <a:ext cx="11064240" cy="5212080"/>
          </a:xfrm>
          <a:prstGeom prst="rect">
            <a:avLst/>
          </a:prstGeom>
          <a:noFill/>
        </p:spPr>
        <p:txBody>
          <a:bodyPr wrap="square">
            <a:spAutoFit/>
          </a:bodyPr>
          <a:lstStyle/>
          <a:p>
            <a:pPr>
              <a:spcAft>
                <a:spcPts val="1000"/>
              </a:spcAft>
              <a:defRPr sz="2760">
                <a:solidFill>
                  <a:srgbClr val="1F3A5F"/>
                </a:solidFill>
              </a:defRPr>
            </a:pPr>
            <a:r>
              <a:rPr/>
              <a:t>• 1_synth — Yosys synthesis to sky130 std cells (1_synth.odb / 1_2_yosys.v)</a:t>
            </a:r>
          </a:p>
          <a:p>
            <a:pPr>
              <a:spcAft>
                <a:spcPts val="1000"/>
              </a:spcAft>
              <a:defRPr sz="2760">
                <a:solidFill>
                  <a:srgbClr val="1F3A5F"/>
                </a:solidFill>
              </a:defRPr>
            </a:pPr>
            <a:r>
              <a:rPr/>
              <a:t>• 2_floorplan — die/core sizing, tapcells, PDN (power grid)</a:t>
            </a:r>
          </a:p>
          <a:p>
            <a:pPr>
              <a:spcAft>
                <a:spcPts val="1000"/>
              </a:spcAft>
              <a:defRPr sz="2760">
                <a:solidFill>
                  <a:srgbClr val="1F3A5F"/>
                </a:solidFill>
              </a:defRPr>
            </a:pPr>
            <a:r>
              <a:rPr/>
              <a:t>• 3_place — global place → resizer → detailed place (sizing for timing/area)</a:t>
            </a:r>
          </a:p>
          <a:p>
            <a:pPr>
              <a:spcAft>
                <a:spcPts val="1000"/>
              </a:spcAft>
              <a:defRPr sz="2760">
                <a:solidFill>
                  <a:srgbClr val="1F3A5F"/>
                </a:solidFill>
              </a:defRPr>
            </a:pPr>
            <a:r>
              <a:rPr/>
              <a:t>• 4_cts — clock-tree synthesis, clock buffers, skew balancing</a:t>
            </a:r>
          </a:p>
          <a:p>
            <a:pPr>
              <a:spcAft>
                <a:spcPts val="1000"/>
              </a:spcAft>
              <a:defRPr sz="2760">
                <a:solidFill>
                  <a:srgbClr val="1F3A5F"/>
                </a:solidFill>
              </a:defRPr>
            </a:pPr>
            <a:r>
              <a:rPr/>
              <a:t>• 5_route — global route (FastRoute) → detailed route → fill cells</a:t>
            </a:r>
          </a:p>
          <a:p>
            <a:pPr>
              <a:spcAft>
                <a:spcPts val="1000"/>
              </a:spcAft>
              <a:defRPr sz="2760">
                <a:solidFill>
                  <a:srgbClr val="1F3A5F"/>
                </a:solidFill>
              </a:defRPr>
            </a:pPr>
            <a:r>
              <a:rPr/>
              <a:t>• 6_finish — final GDSII, SPEF, netlist, reports (DRC/LVS run separately)</a:t>
            </a:r>
          </a:p>
          <a:p>
            <a:pPr>
              <a:spcAft>
                <a:spcPts val="1000"/>
              </a:spcAft>
              <a:defRPr sz="2760">
                <a:solidFill>
                  <a:srgbClr val="1F3A5F"/>
                </a:solidFill>
              </a:defRPr>
            </a:pPr>
            <a:r>
              <a:rPr/>
              <a:t>• Artifacts: 6_final.gds / .def / .v / .spef, 6_drc.lyrdb, 6_lvs.lvsdb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Baseline Results (7.0 ns, 142.9 MHz)</a:t>
            </a:r>
          </a:p>
          <a:p>
            <a:pPr>
              <a:defRPr sz="1725">
                <a:solidFill>
                  <a:srgbClr val="C9D8EE"/>
                </a:solidFill>
              </a:defRPr>
            </a:pPr>
            <a:r>
              <a:rPr/>
              <a:t>reference point for all optimization studies</a:t>
            </a:r>
          </a:p>
        </p:txBody>
      </p:sp>
      <p:graphicFrame>
        <p:nvGraphicFramePr>
          <p:cNvPr id="3" name="Table 2"/>
          <p:cNvGraphicFramePr>
            <a:graphicFrameLocks noGrp="1"/>
          </p:cNvGraphicFramePr>
          <p:nvPr/>
        </p:nvGraphicFramePr>
        <p:xfrm>
          <a:off x="548640" y="1234440"/>
          <a:ext cx="11064240" cy="2798064"/>
        </p:xfrm>
        <a:graphic>
          <a:graphicData uri="http://schemas.openxmlformats.org/drawingml/2006/table">
            <a:tbl>
              <a:tblPr firstRow="1" bandRow="1">
                <a:tableStyleId>{5C22544A-7EE6-4342-B048-85BDC9FD1C3A}</a:tableStyleId>
              </a:tblPr>
              <a:tblGrid>
                <a:gridCol w="5532120"/>
                <a:gridCol w="5532120"/>
              </a:tblGrid>
              <a:tr h="310896">
                <a:tc>
                  <a:txBody>
                    <a:bodyPr/>
                    <a:lstStyle/>
                    <a:p>
                      <a:pPr>
                        <a:defRPr sz="1725" b="1">
                          <a:solidFill>
                            <a:srgbClr val="FFFFFF"/>
                          </a:solidFill>
                        </a:defRPr>
                      </a:pPr>
                      <a:r>
                        <a:rPr/>
                        <a:t>Metric</a:t>
                      </a:r>
                    </a:p>
                  </a:txBody>
                  <a:tcPr>
                    <a:solidFill>
                      <a:srgbClr val="1F3A5F"/>
                    </a:solidFill>
                  </a:tcPr>
                </a:tc>
                <a:tc>
                  <a:txBody>
                    <a:bodyPr/>
                    <a:lstStyle/>
                    <a:p>
                      <a:pPr>
                        <a:defRPr sz="1725" b="1">
                          <a:solidFill>
                            <a:srgbClr val="FFFFFF"/>
                          </a:solidFill>
                        </a:defRPr>
                      </a:pPr>
                      <a:r>
                        <a:rPr/>
                        <a:t>Value</a:t>
                      </a:r>
                    </a:p>
                  </a:txBody>
                  <a:tcPr>
                    <a:solidFill>
                      <a:srgbClr val="1F3A5F"/>
                    </a:solidFill>
                  </a:tcPr>
                </a:tc>
              </a:tr>
              <a:tr h="310896">
                <a:tc>
                  <a:txBody>
                    <a:bodyPr/>
                    <a:lstStyle/>
                    <a:p>
                      <a:pPr>
                        <a:defRPr sz="1609">
                          <a:solidFill>
                            <a:srgbClr val="44546A"/>
                          </a:solidFill>
                        </a:defRPr>
                      </a:pPr>
                      <a:r>
                        <a:rPr/>
                        <a:t>Setup WNS / TNS</a:t>
                      </a:r>
                    </a:p>
                  </a:txBody>
                  <a:tcPr>
                    <a:solidFill>
                      <a:srgbClr val="FFFFFF"/>
                    </a:solidFill>
                  </a:tcPr>
                </a:tc>
                <a:tc>
                  <a:txBody>
                    <a:bodyPr/>
                    <a:lstStyle/>
                    <a:p>
                      <a:pPr>
                        <a:defRPr sz="1609">
                          <a:solidFill>
                            <a:srgbClr val="44546A"/>
                          </a:solidFill>
                        </a:defRPr>
                      </a:pPr>
                      <a:r>
                        <a:rPr/>
                        <a:t>0.00 / 0.00 ns</a:t>
                      </a:r>
                    </a:p>
                  </a:txBody>
                  <a:tcPr>
                    <a:solidFill>
                      <a:srgbClr val="FFFFFF"/>
                    </a:solidFill>
                  </a:tcPr>
                </a:tc>
              </a:tr>
              <a:tr h="310896">
                <a:tc>
                  <a:txBody>
                    <a:bodyPr/>
                    <a:lstStyle/>
                    <a:p>
                      <a:pPr>
                        <a:defRPr sz="1609">
                          <a:solidFill>
                            <a:srgbClr val="44546A"/>
                          </a:solidFill>
                        </a:defRPr>
                      </a:pPr>
                      <a:r>
                        <a:rPr/>
                        <a:t>Min reg→reg period</a:t>
                      </a:r>
                    </a:p>
                  </a:txBody>
                  <a:tcPr>
                    <a:solidFill>
                      <a:srgbClr val="EEF2F7"/>
                    </a:solidFill>
                  </a:tcPr>
                </a:tc>
                <a:tc>
                  <a:txBody>
                    <a:bodyPr/>
                    <a:lstStyle/>
                    <a:p>
                      <a:pPr>
                        <a:defRPr sz="1609">
                          <a:solidFill>
                            <a:srgbClr val="44546A"/>
                          </a:solidFill>
                        </a:defRPr>
                      </a:pPr>
                      <a:r>
                        <a:rPr/>
                        <a:t>6.76 ns (fmax 147.9 MHz)</a:t>
                      </a:r>
                    </a:p>
                  </a:txBody>
                  <a:tcPr>
                    <a:solidFill>
                      <a:srgbClr val="EEF2F7"/>
                    </a:solidFill>
                  </a:tcPr>
                </a:tc>
              </a:tr>
              <a:tr h="310896">
                <a:tc>
                  <a:txBody>
                    <a:bodyPr/>
                    <a:lstStyle/>
                    <a:p>
                      <a:pPr>
                        <a:defRPr sz="1609">
                          <a:solidFill>
                            <a:srgbClr val="44546A"/>
                          </a:solidFill>
                        </a:defRPr>
                      </a:pPr>
                      <a:r>
                        <a:rPr/>
                        <a:t>Hold</a:t>
                      </a:r>
                    </a:p>
                  </a:txBody>
                  <a:tcPr>
                    <a:solidFill>
                      <a:srgbClr val="FFFFFF"/>
                    </a:solidFill>
                  </a:tcPr>
                </a:tc>
                <a:tc>
                  <a:txBody>
                    <a:bodyPr/>
                    <a:lstStyle/>
                    <a:p>
                      <a:pPr>
                        <a:defRPr sz="1609">
                          <a:solidFill>
                            <a:srgbClr val="44546A"/>
                          </a:solidFill>
                        </a:defRPr>
                      </a:pPr>
                      <a:r>
                        <a:rPr/>
                        <a:t>MET (worst +0.58 ns)</a:t>
                      </a:r>
                    </a:p>
                  </a:txBody>
                  <a:tcPr>
                    <a:solidFill>
                      <a:srgbClr val="FFFFFF"/>
                    </a:solidFill>
                  </a:tcPr>
                </a:tc>
              </a:tr>
              <a:tr h="310896">
                <a:tc>
                  <a:txBody>
                    <a:bodyPr/>
                    <a:lstStyle/>
                    <a:p>
                      <a:pPr>
                        <a:defRPr sz="1609">
                          <a:solidFill>
                            <a:srgbClr val="44546A"/>
                          </a:solidFill>
                        </a:defRPr>
                      </a:pPr>
                      <a:r>
                        <a:rPr/>
                        <a:t>Core area</a:t>
                      </a:r>
                    </a:p>
                  </a:txBody>
                  <a:tcPr>
                    <a:solidFill>
                      <a:srgbClr val="EEF2F7"/>
                    </a:solidFill>
                  </a:tcPr>
                </a:tc>
                <a:tc>
                  <a:txBody>
                    <a:bodyPr/>
                    <a:lstStyle/>
                    <a:p>
                      <a:pPr>
                        <a:defRPr sz="1609">
                          <a:solidFill>
                            <a:srgbClr val="44546A"/>
                          </a:solidFill>
                        </a:defRPr>
                      </a:pPr>
                      <a:r>
                        <a:rPr/>
                        <a:t>73,594 µm² (die 376.6 µm)</a:t>
                      </a:r>
                    </a:p>
                  </a:txBody>
                  <a:tcPr>
                    <a:solidFill>
                      <a:srgbClr val="EEF2F7"/>
                    </a:solidFill>
                  </a:tcPr>
                </a:tc>
              </a:tr>
              <a:tr h="310896">
                <a:tc>
                  <a:txBody>
                    <a:bodyPr/>
                    <a:lstStyle/>
                    <a:p>
                      <a:pPr>
                        <a:defRPr sz="1609">
                          <a:solidFill>
                            <a:srgbClr val="44546A"/>
                          </a:solidFill>
                        </a:defRPr>
                      </a:pPr>
                      <a:r>
                        <a:rPr/>
                        <a:t>Cells</a:t>
                      </a:r>
                    </a:p>
                  </a:txBody>
                  <a:tcPr>
                    <a:solidFill>
                      <a:srgbClr val="FFFFFF"/>
                    </a:solidFill>
                  </a:tcPr>
                </a:tc>
                <a:tc>
                  <a:txBody>
                    <a:bodyPr/>
                    <a:lstStyle/>
                    <a:p>
                      <a:pPr>
                        <a:defRPr sz="1609">
                          <a:solidFill>
                            <a:srgbClr val="44546A"/>
                          </a:solidFill>
                        </a:defRPr>
                      </a:pPr>
                      <a:r>
                        <a:rPr/>
                        <a:t>5,520 (1,024 edfxtp + 32 dfrtp)</a:t>
                      </a:r>
                    </a:p>
                  </a:txBody>
                  <a:tcPr>
                    <a:solidFill>
                      <a:srgbClr val="FFFFFF"/>
                    </a:solidFill>
                  </a:tcPr>
                </a:tc>
              </a:tr>
              <a:tr h="310896">
                <a:tc>
                  <a:txBody>
                    <a:bodyPr/>
                    <a:lstStyle/>
                    <a:p>
                      <a:pPr>
                        <a:defRPr sz="1609">
                          <a:solidFill>
                            <a:srgbClr val="44546A"/>
                          </a:solidFill>
                        </a:defRPr>
                      </a:pPr>
                      <a:r>
                        <a:rPr/>
                        <a:t>Power</a:t>
                      </a:r>
                    </a:p>
                  </a:txBody>
                  <a:tcPr>
                    <a:solidFill>
                      <a:srgbClr val="EEF2F7"/>
                    </a:solidFill>
                  </a:tcPr>
                </a:tc>
                <a:tc>
                  <a:txBody>
                    <a:bodyPr/>
                    <a:lstStyle/>
                    <a:p>
                      <a:pPr>
                        <a:defRPr sz="1609">
                          <a:solidFill>
                            <a:srgbClr val="44546A"/>
                          </a:solidFill>
                        </a:defRPr>
                      </a:pPr>
                      <a:r>
                        <a:rPr/>
                        <a:t>19.7 mW (seq 40% / comb 30% / clk 29%)</a:t>
                      </a:r>
                    </a:p>
                  </a:txBody>
                  <a:tcPr>
                    <a:solidFill>
                      <a:srgbClr val="EEF2F7"/>
                    </a:solidFill>
                  </a:tcPr>
                </a:tc>
              </a:tr>
              <a:tr h="310896">
                <a:tc>
                  <a:txBody>
                    <a:bodyPr/>
                    <a:lstStyle/>
                    <a:p>
                      <a:pPr>
                        <a:defRPr sz="1609">
                          <a:solidFill>
                            <a:srgbClr val="44546A"/>
                          </a:solidFill>
                        </a:defRPr>
                      </a:pPr>
                      <a:r>
                        <a:rPr/>
                        <a:t>Signal wirelength</a:t>
                      </a:r>
                    </a:p>
                  </a:txBody>
                  <a:tcPr>
                    <a:solidFill>
                      <a:srgbClr val="FFFFFF"/>
                    </a:solidFill>
                  </a:tcPr>
                </a:tc>
                <a:tc>
                  <a:txBody>
                    <a:bodyPr/>
                    <a:lstStyle/>
                    <a:p>
                      <a:pPr>
                        <a:defRPr sz="1609">
                          <a:solidFill>
                            <a:srgbClr val="44546A"/>
                          </a:solidFill>
                        </a:defRPr>
                      </a:pPr>
                      <a:r>
                        <a:rPr/>
                        <a:t>274.2 mm (met1/met2 dominated)</a:t>
                      </a:r>
                    </a:p>
                  </a:txBody>
                  <a:tcPr>
                    <a:solidFill>
                      <a:srgbClr val="FFFFFF"/>
                    </a:solidFill>
                  </a:tcPr>
                </a:tc>
              </a:tr>
              <a:tr h="310896">
                <a:tc>
                  <a:txBody>
                    <a:bodyPr/>
                    <a:lstStyle/>
                    <a:p>
                      <a:pPr>
                        <a:defRPr sz="1609">
                          <a:solidFill>
                            <a:srgbClr val="44546A"/>
                          </a:solidFill>
                        </a:defRPr>
                      </a:pPr>
                      <a:r>
                        <a:rPr/>
                        <a:t>DRC / LVS / LEC</a:t>
                      </a:r>
                    </a:p>
                  </a:txBody>
                  <a:tcPr>
                    <a:solidFill>
                      <a:srgbClr val="EEF2F7"/>
                    </a:solidFill>
                  </a:tcPr>
                </a:tc>
                <a:tc>
                  <a:txBody>
                    <a:bodyPr/>
                    <a:lstStyle/>
                    <a:p>
                      <a:pPr>
                        <a:defRPr sz="1609">
                          <a:solidFill>
                            <a:srgbClr val="44546A"/>
                          </a:solidFill>
                        </a:defRPr>
                      </a:pPr>
                      <a:r>
                        <a:rPr/>
                        <a:t>0 / match / proven</a:t>
                      </a:r>
                    </a:p>
                  </a:txBody>
                  <a:tcPr>
                    <a:solidFill>
                      <a:srgbClr val="EEF2F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Final Layout — GDS photo + critical-path routing</a:t>
            </a:r>
          </a:p>
          <a:p>
            <a:pPr>
              <a:defRPr sz="1725">
                <a:solidFill>
                  <a:srgbClr val="C9D8EE"/>
                </a:solidFill>
              </a:defRPr>
            </a:pPr>
            <a:r>
              <a:rPr/>
              <a:t>timing-closed 7.0 ns, 376.6 µm die</a:t>
            </a:r>
          </a:p>
        </p:txBody>
      </p:sp>
      <p:pic>
        <p:nvPicPr>
          <p:cNvPr id="3" name="Picture 2" descr="6_final_gds.png"/>
          <p:cNvPicPr>
            <a:picLocks noChangeAspect="1"/>
          </p:cNvPicPr>
          <p:nvPr/>
        </p:nvPicPr>
        <p:blipFill>
          <a:blip r:embed="rId2"/>
          <a:stretch>
            <a:fillRect/>
          </a:stretch>
        </p:blipFill>
        <p:spPr>
          <a:xfrm>
            <a:off x="1170432" y="1371600"/>
            <a:ext cx="4937760" cy="4937760"/>
          </a:xfrm>
          <a:prstGeom prst="rect">
            <a:avLst/>
          </a:prstGeom>
        </p:spPr>
      </p:pic>
      <p:pic>
        <p:nvPicPr>
          <p:cNvPr id="4" name="Picture 3" descr="routing_maps.gif"/>
          <p:cNvPicPr>
            <a:picLocks noChangeAspect="1"/>
          </p:cNvPicPr>
          <p:nvPr/>
        </p:nvPicPr>
        <p:blipFill>
          <a:blip r:embed="rId3"/>
          <a:stretch>
            <a:fillRect/>
          </a:stretch>
        </p:blipFill>
        <p:spPr>
          <a:xfrm>
            <a:off x="6565392" y="1371600"/>
            <a:ext cx="4465929" cy="4937760"/>
          </a:xfrm>
          <a:prstGeom prst="rect">
            <a:avLst/>
          </a:prstGeom>
        </p:spPr>
      </p:pic>
      <p:sp>
        <p:nvSpPr>
          <p:cNvPr id="5" name="TextBox 4"/>
          <p:cNvSpPr txBox="1"/>
          <p:nvPr/>
        </p:nvSpPr>
        <p:spPr>
          <a:xfrm>
            <a:off x="457200" y="6400800"/>
            <a:ext cx="11247120" cy="411480"/>
          </a:xfrm>
          <a:prstGeom prst="rect">
            <a:avLst/>
          </a:prstGeom>
          <a:noFill/>
        </p:spPr>
        <p:txBody>
          <a:bodyPr wrap="square">
            <a:spAutoFit/>
          </a:bodyPr>
          <a:lstStyle/>
          <a:p>
            <a:pPr>
              <a:defRPr/>
            </a:pPr>
            <a:r>
              <a:rPr b="1" sz="1609">
                <a:solidFill>
                  <a:srgbClr val="1F3A5F"/>
                </a:solidFill>
              </a:rPr>
              <a:t>GDS photo (left): </a:t>
            </a:r>
            <a:r>
              <a:rPr b="0" sz="1609">
                <a:solidFill>
                  <a:srgbClr val="44546A"/>
                </a:solidFill>
              </a:rPr>
              <a:t>final routed sky130 layout (poly / li / met1–met5).    </a:t>
            </a:r>
            <a:r>
              <a:rPr b="1" sz="1609">
                <a:solidFill>
                  <a:srgbClr val="1F3A5F"/>
                </a:solidFill>
              </a:rPr>
              <a:t>Routing map (right): </a:t>
            </a:r>
            <a:r>
              <a:rPr b="0" sz="1609">
                <a:solidFill>
                  <a:srgbClr val="44546A"/>
                </a:solidFill>
              </a:rPr>
              <a:t>critical-path route highlighted on the die — animates in slide-show mode.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Timing vs Power — Pareto (same 376.6 µm die)</a:t>
            </a:r>
          </a:p>
          <a:p>
            <a:pPr>
              <a:defRPr sz="1725">
                <a:solidFill>
                  <a:srgbClr val="C9D8EE"/>
                </a:solidFill>
              </a:defRPr>
            </a:pPr>
            <a:r>
              <a:rPr/>
              <a:t>power normalized to the 142.9 MHz baseline clock</a:t>
            </a:r>
          </a:p>
        </p:txBody>
      </p:sp>
      <p:pic>
        <p:nvPicPr>
          <p:cNvPr id="3" name="Picture 2" descr="pareto_ppa.png"/>
          <p:cNvPicPr>
            <a:picLocks noChangeAspect="1"/>
          </p:cNvPicPr>
          <p:nvPr/>
        </p:nvPicPr>
        <p:blipFill>
          <a:blip r:embed="rId2"/>
          <a:stretch>
            <a:fillRect/>
          </a:stretch>
        </p:blipFill>
        <p:spPr>
          <a:xfrm>
            <a:off x="457200" y="1325880"/>
            <a:ext cx="7328647" cy="4983480"/>
          </a:xfrm>
          <a:prstGeom prst="rect">
            <a:avLst/>
          </a:prstGeom>
        </p:spPr>
      </p:pic>
      <p:sp>
        <p:nvSpPr>
          <p:cNvPr id="4" name="TextBox 3"/>
          <p:cNvSpPr txBox="1"/>
          <p:nvPr/>
        </p:nvSpPr>
        <p:spPr>
          <a:xfrm>
            <a:off x="8060167" y="1325880"/>
            <a:ext cx="3765768" cy="5394960"/>
          </a:xfrm>
          <a:prstGeom prst="rect">
            <a:avLst/>
          </a:prstGeom>
          <a:noFill/>
        </p:spPr>
        <p:txBody>
          <a:bodyPr wrap="square">
            <a:spAutoFit/>
          </a:bodyPr>
          <a:lstStyle/>
          <a:p>
            <a:pPr>
              <a:spcAft>
                <a:spcPts val="1000"/>
              </a:spcAft>
              <a:defRPr/>
            </a:pPr>
            <a:r>
              <a:rPr b="1" sz="1725">
                <a:solidFill>
                  <a:srgbClr val="1F3A5F"/>
                </a:solidFill>
              </a:rPr>
              <a:t>ABC mapper: “performance — delay” vs “power — area-mapped”</a:t>
            </a:r>
          </a:p>
          <a:p>
            <a:pPr>
              <a:spcAft>
                <a:spcPts val="1000"/>
              </a:spcAft>
              <a:defRPr/>
            </a:pPr>
            <a:r>
              <a:rPr b="1" sz="1380">
                <a:solidFill>
                  <a:srgbClr val="4A86E8"/>
                </a:solidFill>
              </a:rPr>
              <a:t>delay-oriented (ABC_AREA=0): </a:t>
            </a:r>
            <a:r>
              <a:rPr b="0" sz="1380">
                <a:solidFill>
                  <a:srgbClr val="44546A"/>
                </a:solidFill>
              </a:rPr>
              <a:t>the mapper optimises the critical path — larger, faster cells, area spent to shorten logic depth. Fastest, but more capacitance → more dynamic power.  (blue circles: p5/p7/p10_delay)</a:t>
            </a:r>
          </a:p>
          <a:p>
            <a:pPr>
              <a:spcAft>
                <a:spcPts val="1000"/>
              </a:spcAft>
              <a:defRPr/>
            </a:pPr>
            <a:r>
              <a:rPr b="1" sz="1380">
                <a:solidFill>
                  <a:srgbClr val="E06666"/>
                </a:solidFill>
              </a:rPr>
              <a:t>power-optimized — area-mapped (ABC_AREA=1): </a:t>
            </a:r>
            <a:r>
              <a:rPr b="0" sz="1380">
                <a:solidFill>
                  <a:srgbClr val="44546A"/>
                </a:solidFill>
              </a:rPr>
              <a:t>the mapper minimises gate area / transistor count — smaller cells, shared logic. Lower capacitance → less switching power, at some speed cost.  (red squares: p7/p10/p20_power)</a:t>
            </a:r>
          </a:p>
          <a:p>
            <a:pPr>
              <a:spcAft>
                <a:spcPts val="1000"/>
              </a:spcAft>
              <a:defRPr/>
            </a:pPr>
            <a:r>
              <a:rPr b="1" sz="1380">
                <a:solidFill>
                  <a:srgbClr val="1F3A5F"/>
                </a:solidFill>
              </a:rPr>
              <a:t>Reading the plot: </a:t>
            </a:r>
            <a:r>
              <a:rPr b="0" sz="1380">
                <a:solidFill>
                  <a:srgbClr val="44546A"/>
                </a:solidFill>
              </a:rPr>
              <a:t>X = achieved fmax; Y = total power @142.9 MHz (fair comparison). Dashed line = Pareto front.</a:t>
            </a:r>
          </a:p>
          <a:p>
            <a:pPr>
              <a:spcAft>
                <a:spcPts val="0"/>
              </a:spcAft>
              <a:defRPr/>
            </a:pPr>
            <a:r>
              <a:rPr b="1" sz="1380">
                <a:solidFill>
                  <a:srgbClr val="1F3A5F"/>
                </a:solidFill>
              </a:rPr>
              <a:t>Result: </a:t>
            </a:r>
            <a:r>
              <a:rPr b="0" sz="1380">
                <a:solidFill>
                  <a:srgbClr val="44546A"/>
                </a:solidFill>
              </a:rPr>
              <a:t>p7_power is lower power AND faster than the delay baseline at equal frequency → power-optimized (area-mapped) mapping dominates.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Why p7_power beats p7_delay (same 7 ns clock)</a:t>
            </a:r>
          </a:p>
          <a:p>
            <a:pPr>
              <a:defRPr sz="1725">
                <a:solidFill>
                  <a:srgbClr val="C9D8EE"/>
                </a:solidFill>
              </a:defRPr>
            </a:pPr>
            <a:r>
              <a:rPr/>
              <a:t>cell-type analysis — power-optimized (area-mapped) vs delay ABC mapping</a:t>
            </a:r>
          </a:p>
        </p:txBody>
      </p:sp>
      <p:graphicFrame>
        <p:nvGraphicFramePr>
          <p:cNvPr id="3" name="Table 2"/>
          <p:cNvGraphicFramePr>
            <a:graphicFrameLocks noGrp="1"/>
          </p:cNvGraphicFramePr>
          <p:nvPr/>
        </p:nvGraphicFramePr>
        <p:xfrm>
          <a:off x="457200" y="1371600"/>
          <a:ext cx="5852160" cy="3419856"/>
        </p:xfrm>
        <a:graphic>
          <a:graphicData uri="http://schemas.openxmlformats.org/drawingml/2006/table">
            <a:tbl>
              <a:tblPr firstRow="1" bandRow="1">
                <a:tableStyleId>{5C22544A-7EE6-4342-B048-85BDC9FD1C3A}</a:tableStyleId>
              </a:tblPr>
              <a:tblGrid>
                <a:gridCol w="2286000"/>
                <a:gridCol w="1188720"/>
                <a:gridCol w="1188720"/>
                <a:gridCol w="1188720"/>
              </a:tblGrid>
              <a:tr h="310896">
                <a:tc>
                  <a:txBody>
                    <a:bodyPr/>
                    <a:lstStyle/>
                    <a:p>
                      <a:pPr>
                        <a:defRPr sz="1495" b="1">
                          <a:solidFill>
                            <a:srgbClr val="FFFFFF"/>
                          </a:solidFill>
                        </a:defRPr>
                      </a:pPr>
                      <a:r>
                        <a:rPr/>
                        <a:t>Cell class</a:t>
                      </a:r>
                    </a:p>
                  </a:txBody>
                  <a:tcPr>
                    <a:solidFill>
                      <a:srgbClr val="1F3A5F"/>
                    </a:solidFill>
                  </a:tcPr>
                </a:tc>
                <a:tc>
                  <a:txBody>
                    <a:bodyPr/>
                    <a:lstStyle/>
                    <a:p>
                      <a:pPr>
                        <a:defRPr sz="1495" b="1">
                          <a:solidFill>
                            <a:srgbClr val="FFFFFF"/>
                          </a:solidFill>
                        </a:defRPr>
                      </a:pPr>
                      <a:r>
                        <a:rPr/>
                        <a:t>p7_delay</a:t>
                      </a:r>
                    </a:p>
                  </a:txBody>
                  <a:tcPr>
                    <a:solidFill>
                      <a:srgbClr val="1F3A5F"/>
                    </a:solidFill>
                  </a:tcPr>
                </a:tc>
                <a:tc>
                  <a:txBody>
                    <a:bodyPr/>
                    <a:lstStyle/>
                    <a:p>
                      <a:pPr>
                        <a:defRPr sz="1495" b="1">
                          <a:solidFill>
                            <a:srgbClr val="FFFFFF"/>
                          </a:solidFill>
                        </a:defRPr>
                      </a:pPr>
                      <a:r>
                        <a:rPr/>
                        <a:t>p7_power</a:t>
                      </a:r>
                    </a:p>
                  </a:txBody>
                  <a:tcPr>
                    <a:solidFill>
                      <a:srgbClr val="1F3A5F"/>
                    </a:solidFill>
                  </a:tcPr>
                </a:tc>
                <a:tc>
                  <a:txBody>
                    <a:bodyPr/>
                    <a:lstStyle/>
                    <a:p>
                      <a:pPr>
                        <a:defRPr sz="1495" b="1">
                          <a:solidFill>
                            <a:srgbClr val="FFFFFF"/>
                          </a:solidFill>
                        </a:defRPr>
                      </a:pPr>
                      <a:r>
                        <a:rPr/>
                        <a:t>Δ</a:t>
                      </a:r>
                    </a:p>
                  </a:txBody>
                  <a:tcPr>
                    <a:solidFill>
                      <a:srgbClr val="1F3A5F"/>
                    </a:solidFill>
                  </a:tcPr>
                </a:tc>
              </a:tr>
              <a:tr h="310896">
                <a:tc>
                  <a:txBody>
                    <a:bodyPr/>
                    <a:lstStyle/>
                    <a:p>
                      <a:pPr>
                        <a:defRPr sz="1380">
                          <a:solidFill>
                            <a:srgbClr val="44546A"/>
                          </a:solidFill>
                        </a:defRPr>
                      </a:pPr>
                      <a:r>
                        <a:rPr/>
                        <a:t>Multi-input combinational</a:t>
                      </a:r>
                    </a:p>
                  </a:txBody>
                  <a:tcPr>
                    <a:solidFill>
                      <a:srgbClr val="FFFFFF"/>
                    </a:solidFill>
                  </a:tcPr>
                </a:tc>
                <a:tc>
                  <a:txBody>
                    <a:bodyPr/>
                    <a:lstStyle/>
                    <a:p>
                      <a:pPr>
                        <a:defRPr sz="1380">
                          <a:solidFill>
                            <a:srgbClr val="44546A"/>
                          </a:solidFill>
                        </a:defRPr>
                      </a:pPr>
                      <a:r>
                        <a:rPr/>
                        <a:t>3,458</a:t>
                      </a:r>
                    </a:p>
                  </a:txBody>
                  <a:tcPr>
                    <a:solidFill>
                      <a:srgbClr val="FFFFFF"/>
                    </a:solidFill>
                  </a:tcPr>
                </a:tc>
                <a:tc>
                  <a:txBody>
                    <a:bodyPr/>
                    <a:lstStyle/>
                    <a:p>
                      <a:pPr>
                        <a:defRPr sz="1380">
                          <a:solidFill>
                            <a:srgbClr val="44546A"/>
                          </a:solidFill>
                        </a:defRPr>
                      </a:pPr>
                      <a:r>
                        <a:rPr/>
                        <a:t>6,404</a:t>
                      </a:r>
                    </a:p>
                  </a:txBody>
                  <a:tcPr>
                    <a:solidFill>
                      <a:srgbClr val="FFFFFF"/>
                    </a:solidFill>
                  </a:tcPr>
                </a:tc>
                <a:tc>
                  <a:txBody>
                    <a:bodyPr/>
                    <a:lstStyle/>
                    <a:p>
                      <a:pPr>
                        <a:defRPr sz="1380">
                          <a:solidFill>
                            <a:srgbClr val="44546A"/>
                          </a:solidFill>
                        </a:defRPr>
                      </a:pPr>
                      <a:r>
                        <a:rPr/>
                        <a:t>+2,946</a:t>
                      </a:r>
                    </a:p>
                  </a:txBody>
                  <a:tcPr>
                    <a:solidFill>
                      <a:srgbClr val="FFFFFF"/>
                    </a:solidFill>
                  </a:tcPr>
                </a:tc>
              </a:tr>
              <a:tr h="310896">
                <a:tc>
                  <a:txBody>
                    <a:bodyPr/>
                    <a:lstStyle/>
                    <a:p>
                      <a:pPr>
                        <a:defRPr sz="1380">
                          <a:solidFill>
                            <a:srgbClr val="44546A"/>
                          </a:solidFill>
                        </a:defRPr>
                      </a:pPr>
                      <a:r>
                        <a:rPr/>
                        <a:t>Inverter</a:t>
                      </a:r>
                    </a:p>
                  </a:txBody>
                  <a:tcPr>
                    <a:solidFill>
                      <a:srgbClr val="EEF2F7"/>
                    </a:solidFill>
                  </a:tcPr>
                </a:tc>
                <a:tc>
                  <a:txBody>
                    <a:bodyPr/>
                    <a:lstStyle/>
                    <a:p>
                      <a:pPr>
                        <a:defRPr sz="1380">
                          <a:solidFill>
                            <a:srgbClr val="44546A"/>
                          </a:solidFill>
                        </a:defRPr>
                      </a:pPr>
                      <a:r>
                        <a:rPr/>
                        <a:t>123</a:t>
                      </a:r>
                    </a:p>
                  </a:txBody>
                  <a:tcPr>
                    <a:solidFill>
                      <a:srgbClr val="EEF2F7"/>
                    </a:solidFill>
                  </a:tcPr>
                </a:tc>
                <a:tc>
                  <a:txBody>
                    <a:bodyPr/>
                    <a:lstStyle/>
                    <a:p>
                      <a:pPr>
                        <a:defRPr sz="1380">
                          <a:solidFill>
                            <a:srgbClr val="44546A"/>
                          </a:solidFill>
                        </a:defRPr>
                      </a:pPr>
                      <a:r>
                        <a:rPr/>
                        <a:t>843</a:t>
                      </a:r>
                    </a:p>
                  </a:txBody>
                  <a:tcPr>
                    <a:solidFill>
                      <a:srgbClr val="EEF2F7"/>
                    </a:solidFill>
                  </a:tcPr>
                </a:tc>
                <a:tc>
                  <a:txBody>
                    <a:bodyPr/>
                    <a:lstStyle/>
                    <a:p>
                      <a:pPr>
                        <a:defRPr sz="1380">
                          <a:solidFill>
                            <a:srgbClr val="44546A"/>
                          </a:solidFill>
                        </a:defRPr>
                      </a:pPr>
                      <a:r>
                        <a:rPr/>
                        <a:t>+720</a:t>
                      </a:r>
                    </a:p>
                  </a:txBody>
                  <a:tcPr>
                    <a:solidFill>
                      <a:srgbClr val="EEF2F7"/>
                    </a:solidFill>
                  </a:tcPr>
                </a:tc>
              </a:tr>
              <a:tr h="310896">
                <a:tc>
                  <a:txBody>
                    <a:bodyPr/>
                    <a:lstStyle/>
                    <a:p>
                      <a:pPr>
                        <a:defRPr sz="1380">
                          <a:solidFill>
                            <a:srgbClr val="44546A"/>
                          </a:solidFill>
                        </a:defRPr>
                      </a:pPr>
                      <a:r>
                        <a:rPr/>
                        <a:t>Clock inverter</a:t>
                      </a:r>
                    </a:p>
                  </a:txBody>
                  <a:tcPr>
                    <a:solidFill>
                      <a:srgbClr val="FFFFFF"/>
                    </a:solidFill>
                  </a:tcPr>
                </a:tc>
                <a:tc>
                  <a:txBody>
                    <a:bodyPr/>
                    <a:lstStyle/>
                    <a:p>
                      <a:pPr>
                        <a:defRPr sz="1380">
                          <a:solidFill>
                            <a:srgbClr val="44546A"/>
                          </a:solidFill>
                        </a:defRPr>
                      </a:pPr>
                      <a:r>
                        <a:rPr/>
                        <a:t>68</a:t>
                      </a:r>
                    </a:p>
                  </a:txBody>
                  <a:tcPr>
                    <a:solidFill>
                      <a:srgbClr val="FFFFFF"/>
                    </a:solidFill>
                  </a:tcPr>
                </a:tc>
                <a:tc>
                  <a:txBody>
                    <a:bodyPr/>
                    <a:lstStyle/>
                    <a:p>
                      <a:pPr>
                        <a:defRPr sz="1380">
                          <a:solidFill>
                            <a:srgbClr val="44546A"/>
                          </a:solidFill>
                        </a:defRPr>
                      </a:pPr>
                      <a:r>
                        <a:rPr/>
                        <a:t>63</a:t>
                      </a:r>
                    </a:p>
                  </a:txBody>
                  <a:tcPr>
                    <a:solidFill>
                      <a:srgbClr val="FFFFFF"/>
                    </a:solidFill>
                  </a:tcPr>
                </a:tc>
                <a:tc>
                  <a:txBody>
                    <a:bodyPr/>
                    <a:lstStyle/>
                    <a:p>
                      <a:pPr>
                        <a:defRPr sz="1380">
                          <a:solidFill>
                            <a:srgbClr val="44546A"/>
                          </a:solidFill>
                        </a:defRPr>
                      </a:pPr>
                      <a:r>
                        <a:rPr/>
                        <a:t>−5</a:t>
                      </a:r>
                    </a:p>
                  </a:txBody>
                  <a:tcPr>
                    <a:solidFill>
                      <a:srgbClr val="FFFFFF"/>
                    </a:solidFill>
                  </a:tcPr>
                </a:tc>
              </a:tr>
              <a:tr h="310896">
                <a:tc>
                  <a:txBody>
                    <a:bodyPr/>
                    <a:lstStyle/>
                    <a:p>
                      <a:pPr>
                        <a:defRPr sz="1380">
                          <a:solidFill>
                            <a:srgbClr val="44546A"/>
                          </a:solidFill>
                        </a:defRPr>
                      </a:pPr>
                      <a:r>
                        <a:rPr/>
                        <a:t>Clock buffer</a:t>
                      </a:r>
                    </a:p>
                  </a:txBody>
                  <a:tcPr>
                    <a:solidFill>
                      <a:srgbClr val="EEF2F7"/>
                    </a:solidFill>
                  </a:tcPr>
                </a:tc>
                <a:tc>
                  <a:txBody>
                    <a:bodyPr/>
                    <a:lstStyle/>
                    <a:p>
                      <a:pPr>
                        <a:defRPr sz="1380">
                          <a:solidFill>
                            <a:srgbClr val="44546A"/>
                          </a:solidFill>
                        </a:defRPr>
                      </a:pPr>
                      <a:r>
                        <a:rPr/>
                        <a:t>135</a:t>
                      </a:r>
                    </a:p>
                  </a:txBody>
                  <a:tcPr>
                    <a:solidFill>
                      <a:srgbClr val="EEF2F7"/>
                    </a:solidFill>
                  </a:tcPr>
                </a:tc>
                <a:tc>
                  <a:txBody>
                    <a:bodyPr/>
                    <a:lstStyle/>
                    <a:p>
                      <a:pPr>
                        <a:defRPr sz="1380">
                          <a:solidFill>
                            <a:srgbClr val="44546A"/>
                          </a:solidFill>
                        </a:defRPr>
                      </a:pPr>
                      <a:r>
                        <a:rPr/>
                        <a:t>148</a:t>
                      </a:r>
                    </a:p>
                  </a:txBody>
                  <a:tcPr>
                    <a:solidFill>
                      <a:srgbClr val="EEF2F7"/>
                    </a:solidFill>
                  </a:tcPr>
                </a:tc>
                <a:tc>
                  <a:txBody>
                    <a:bodyPr/>
                    <a:lstStyle/>
                    <a:p>
                      <a:pPr>
                        <a:defRPr sz="1380">
                          <a:solidFill>
                            <a:srgbClr val="44546A"/>
                          </a:solidFill>
                        </a:defRPr>
                      </a:pPr>
                      <a:r>
                        <a:rPr/>
                        <a:t>+13</a:t>
                      </a:r>
                    </a:p>
                  </a:txBody>
                  <a:tcPr>
                    <a:solidFill>
                      <a:srgbClr val="EEF2F7"/>
                    </a:solidFill>
                  </a:tcPr>
                </a:tc>
              </a:tr>
              <a:tr h="310896">
                <a:tc>
                  <a:txBody>
                    <a:bodyPr/>
                    <a:lstStyle/>
                    <a:p>
                      <a:pPr>
                        <a:defRPr sz="1380">
                          <a:solidFill>
                            <a:srgbClr val="44546A"/>
                          </a:solidFill>
                        </a:defRPr>
                      </a:pPr>
                      <a:r>
                        <a:rPr/>
                        <a:t>Timing-repair buffer</a:t>
                      </a:r>
                    </a:p>
                  </a:txBody>
                  <a:tcPr>
                    <a:solidFill>
                      <a:srgbClr val="FFFFFF"/>
                    </a:solidFill>
                  </a:tcPr>
                </a:tc>
                <a:tc>
                  <a:txBody>
                    <a:bodyPr/>
                    <a:lstStyle/>
                    <a:p>
                      <a:pPr>
                        <a:defRPr sz="1380">
                          <a:solidFill>
                            <a:srgbClr val="44546A"/>
                          </a:solidFill>
                        </a:defRPr>
                      </a:pPr>
                      <a:r>
                        <a:rPr/>
                        <a:t>680</a:t>
                      </a:r>
                    </a:p>
                  </a:txBody>
                  <a:tcPr>
                    <a:solidFill>
                      <a:srgbClr val="FFFFFF"/>
                    </a:solidFill>
                  </a:tcPr>
                </a:tc>
                <a:tc>
                  <a:txBody>
                    <a:bodyPr/>
                    <a:lstStyle/>
                    <a:p>
                      <a:pPr>
                        <a:defRPr sz="1380">
                          <a:solidFill>
                            <a:srgbClr val="44546A"/>
                          </a:solidFill>
                        </a:defRPr>
                      </a:pPr>
                      <a:r>
                        <a:rPr/>
                        <a:t>405</a:t>
                      </a:r>
                    </a:p>
                  </a:txBody>
                  <a:tcPr>
                    <a:solidFill>
                      <a:srgbClr val="FFFFFF"/>
                    </a:solidFill>
                  </a:tcPr>
                </a:tc>
                <a:tc>
                  <a:txBody>
                    <a:bodyPr/>
                    <a:lstStyle/>
                    <a:p>
                      <a:pPr>
                        <a:defRPr sz="1380">
                          <a:solidFill>
                            <a:srgbClr val="44546A"/>
                          </a:solidFill>
                        </a:defRPr>
                      </a:pPr>
                      <a:r>
                        <a:rPr/>
                        <a:t>−275</a:t>
                      </a:r>
                    </a:p>
                  </a:txBody>
                  <a:tcPr>
                    <a:solidFill>
                      <a:srgbClr val="FFFFFF"/>
                    </a:solidFill>
                  </a:tcPr>
                </a:tc>
              </a:tr>
              <a:tr h="310896">
                <a:tc>
                  <a:txBody>
                    <a:bodyPr/>
                    <a:lstStyle/>
                    <a:p>
                      <a:pPr>
                        <a:defRPr sz="1380">
                          <a:solidFill>
                            <a:srgbClr val="44546A"/>
                          </a:solidFill>
                        </a:defRPr>
                      </a:pPr>
                      <a:r>
                        <a:rPr/>
                        <a:t>Sequential (FF)</a:t>
                      </a:r>
                    </a:p>
                  </a:txBody>
                  <a:tcPr>
                    <a:solidFill>
                      <a:srgbClr val="EEF2F7"/>
                    </a:solidFill>
                  </a:tcPr>
                </a:tc>
                <a:tc>
                  <a:txBody>
                    <a:bodyPr/>
                    <a:lstStyle/>
                    <a:p>
                      <a:pPr>
                        <a:defRPr sz="1380">
                          <a:solidFill>
                            <a:srgbClr val="44546A"/>
                          </a:solidFill>
                        </a:defRPr>
                      </a:pPr>
                      <a:r>
                        <a:rPr/>
                        <a:t>1,056</a:t>
                      </a:r>
                    </a:p>
                  </a:txBody>
                  <a:tcPr>
                    <a:solidFill>
                      <a:srgbClr val="EEF2F7"/>
                    </a:solidFill>
                  </a:tcPr>
                </a:tc>
                <a:tc>
                  <a:txBody>
                    <a:bodyPr/>
                    <a:lstStyle/>
                    <a:p>
                      <a:pPr>
                        <a:defRPr sz="1380">
                          <a:solidFill>
                            <a:srgbClr val="44546A"/>
                          </a:solidFill>
                        </a:defRPr>
                      </a:pPr>
                      <a:r>
                        <a:rPr/>
                        <a:t>1,056</a:t>
                      </a:r>
                    </a:p>
                  </a:txBody>
                  <a:tcPr>
                    <a:solidFill>
                      <a:srgbClr val="EEF2F7"/>
                    </a:solidFill>
                  </a:tcPr>
                </a:tc>
                <a:tc>
                  <a:txBody>
                    <a:bodyPr/>
                    <a:lstStyle/>
                    <a:p>
                      <a:pPr>
                        <a:defRPr sz="1380">
                          <a:solidFill>
                            <a:srgbClr val="44546A"/>
                          </a:solidFill>
                        </a:defRPr>
                      </a:pPr>
                      <a:r>
                        <a:rPr/>
                        <a:t>0</a:t>
                      </a:r>
                    </a:p>
                  </a:txBody>
                  <a:tcPr>
                    <a:solidFill>
                      <a:srgbClr val="EEF2F7"/>
                    </a:solidFill>
                  </a:tcPr>
                </a:tc>
              </a:tr>
              <a:tr h="310896">
                <a:tc>
                  <a:txBody>
                    <a:bodyPr/>
                    <a:lstStyle/>
                    <a:p>
                      <a:pPr>
                        <a:defRPr sz="1380">
                          <a:solidFill>
                            <a:srgbClr val="44546A"/>
                          </a:solidFill>
                        </a:defRPr>
                      </a:pPr>
                      <a:r>
                        <a:rPr/>
                        <a:t>Antenna</a:t>
                      </a:r>
                    </a:p>
                  </a:txBody>
                  <a:tcPr>
                    <a:solidFill>
                      <a:srgbClr val="FFFFFF"/>
                    </a:solidFill>
                  </a:tcPr>
                </a:tc>
                <a:tc>
                  <a:txBody>
                    <a:bodyPr/>
                    <a:lstStyle/>
                    <a:p>
                      <a:pPr>
                        <a:defRPr sz="1380">
                          <a:solidFill>
                            <a:srgbClr val="44546A"/>
                          </a:solidFill>
                        </a:defRPr>
                      </a:pPr>
                      <a:r>
                        <a:rPr/>
                        <a:t>2</a:t>
                      </a:r>
                    </a:p>
                  </a:txBody>
                  <a:tcPr>
                    <a:solidFill>
                      <a:srgbClr val="FFFFFF"/>
                    </a:solidFill>
                  </a:tcPr>
                </a:tc>
                <a:tc>
                  <a:txBody>
                    <a:bodyPr/>
                    <a:lstStyle/>
                    <a:p>
                      <a:pPr>
                        <a:defRPr sz="1380">
                          <a:solidFill>
                            <a:srgbClr val="44546A"/>
                          </a:solidFill>
                        </a:defRPr>
                      </a:pPr>
                      <a:r>
                        <a:rPr/>
                        <a:t>3</a:t>
                      </a:r>
                    </a:p>
                  </a:txBody>
                  <a:tcPr>
                    <a:solidFill>
                      <a:srgbClr val="FFFFFF"/>
                    </a:solidFill>
                  </a:tcPr>
                </a:tc>
                <a:tc>
                  <a:txBody>
                    <a:bodyPr/>
                    <a:lstStyle/>
                    <a:p>
                      <a:pPr>
                        <a:defRPr sz="1380">
                          <a:solidFill>
                            <a:srgbClr val="44546A"/>
                          </a:solidFill>
                        </a:defRPr>
                      </a:pPr>
                      <a:r>
                        <a:rPr/>
                        <a:t>+1</a:t>
                      </a:r>
                    </a:p>
                  </a:txBody>
                  <a:tcPr>
                    <a:solidFill>
                      <a:srgbClr val="FFFFFF"/>
                    </a:solidFill>
                  </a:tcPr>
                </a:tc>
              </a:tr>
              <a:tr h="310896">
                <a:tc>
                  <a:txBody>
                    <a:bodyPr/>
                    <a:lstStyle/>
                    <a:p>
                      <a:pPr>
                        <a:defRPr sz="1380">
                          <a:solidFill>
                            <a:srgbClr val="44546A"/>
                          </a:solidFill>
                        </a:defRPr>
                      </a:pPr>
                      <a:r>
                        <a:rPr/>
                        <a:t>Tap</a:t>
                      </a:r>
                    </a:p>
                  </a:txBody>
                  <a:tcPr>
                    <a:solidFill>
                      <a:srgbClr val="EEF2F7"/>
                    </a:solidFill>
                  </a:tcPr>
                </a:tc>
                <a:tc>
                  <a:txBody>
                    <a:bodyPr/>
                    <a:lstStyle/>
                    <a:p>
                      <a:pPr>
                        <a:defRPr sz="1380">
                          <a:solidFill>
                            <a:srgbClr val="44546A"/>
                          </a:solidFill>
                        </a:defRPr>
                      </a:pPr>
                      <a:r>
                        <a:rPr/>
                        <a:t>1,876</a:t>
                      </a:r>
                    </a:p>
                  </a:txBody>
                  <a:tcPr>
                    <a:solidFill>
                      <a:srgbClr val="EEF2F7"/>
                    </a:solidFill>
                  </a:tcPr>
                </a:tc>
                <a:tc>
                  <a:txBody>
                    <a:bodyPr/>
                    <a:lstStyle/>
                    <a:p>
                      <a:pPr>
                        <a:defRPr sz="1380">
                          <a:solidFill>
                            <a:srgbClr val="44546A"/>
                          </a:solidFill>
                        </a:defRPr>
                      </a:pPr>
                      <a:r>
                        <a:rPr/>
                        <a:t>1,876</a:t>
                      </a:r>
                    </a:p>
                  </a:txBody>
                  <a:tcPr>
                    <a:solidFill>
                      <a:srgbClr val="EEF2F7"/>
                    </a:solidFill>
                  </a:tcPr>
                </a:tc>
                <a:tc>
                  <a:txBody>
                    <a:bodyPr/>
                    <a:lstStyle/>
                    <a:p>
                      <a:pPr>
                        <a:defRPr sz="1380">
                          <a:solidFill>
                            <a:srgbClr val="44546A"/>
                          </a:solidFill>
                        </a:defRPr>
                      </a:pPr>
                      <a:r>
                        <a:rPr/>
                        <a:t>0</a:t>
                      </a:r>
                    </a:p>
                  </a:txBody>
                  <a:tcPr>
                    <a:solidFill>
                      <a:srgbClr val="EEF2F7"/>
                    </a:solidFill>
                  </a:tcPr>
                </a:tc>
              </a:tr>
              <a:tr h="310896">
                <a:tc>
                  <a:txBody>
                    <a:bodyPr/>
                    <a:lstStyle/>
                    <a:p>
                      <a:pPr>
                        <a:defRPr sz="1380">
                          <a:solidFill>
                            <a:srgbClr val="44546A"/>
                          </a:solidFill>
                        </a:defRPr>
                      </a:pPr>
                      <a:r>
                        <a:rPr/>
                        <a:t>Fill</a:t>
                      </a:r>
                    </a:p>
                  </a:txBody>
                  <a:tcPr>
                    <a:solidFill>
                      <a:srgbClr val="FFFFFF"/>
                    </a:solidFill>
                  </a:tcPr>
                </a:tc>
                <a:tc>
                  <a:txBody>
                    <a:bodyPr/>
                    <a:lstStyle/>
                    <a:p>
                      <a:pPr>
                        <a:defRPr sz="1380">
                          <a:solidFill>
                            <a:srgbClr val="44546A"/>
                          </a:solidFill>
                        </a:defRPr>
                      </a:pPr>
                      <a:r>
                        <a:rPr/>
                        <a:t>11,652</a:t>
                      </a:r>
                    </a:p>
                  </a:txBody>
                  <a:tcPr>
                    <a:solidFill>
                      <a:srgbClr val="FFFFFF"/>
                    </a:solidFill>
                  </a:tcPr>
                </a:tc>
                <a:tc>
                  <a:txBody>
                    <a:bodyPr/>
                    <a:lstStyle/>
                    <a:p>
                      <a:pPr>
                        <a:defRPr sz="1380">
                          <a:solidFill>
                            <a:srgbClr val="44546A"/>
                          </a:solidFill>
                        </a:defRPr>
                      </a:pPr>
                      <a:r>
                        <a:rPr/>
                        <a:t>12,904</a:t>
                      </a:r>
                    </a:p>
                  </a:txBody>
                  <a:tcPr>
                    <a:solidFill>
                      <a:srgbClr val="FFFFFF"/>
                    </a:solidFill>
                  </a:tcPr>
                </a:tc>
                <a:tc>
                  <a:txBody>
                    <a:bodyPr/>
                    <a:lstStyle/>
                    <a:p>
                      <a:pPr>
                        <a:defRPr sz="1380">
                          <a:solidFill>
                            <a:srgbClr val="44546A"/>
                          </a:solidFill>
                        </a:defRPr>
                      </a:pPr>
                      <a:r>
                        <a:rPr/>
                        <a:t>+1,252</a:t>
                      </a:r>
                    </a:p>
                  </a:txBody>
                  <a:tcPr>
                    <a:solidFill>
                      <a:srgbClr val="FFFFFF"/>
                    </a:solidFill>
                  </a:tcPr>
                </a:tc>
              </a:tr>
              <a:tr h="310896">
                <a:tc>
                  <a:txBody>
                    <a:bodyPr/>
                    <a:lstStyle/>
                    <a:p>
                      <a:pPr>
                        <a:defRPr sz="1380">
                          <a:solidFill>
                            <a:srgbClr val="44546A"/>
                          </a:solidFill>
                        </a:defRPr>
                      </a:pPr>
                      <a:r>
                        <a:rPr/>
                        <a:t>Total instances</a:t>
                      </a:r>
                    </a:p>
                  </a:txBody>
                  <a:tcPr>
                    <a:solidFill>
                      <a:srgbClr val="EEF2F7"/>
                    </a:solidFill>
                  </a:tcPr>
                </a:tc>
                <a:tc>
                  <a:txBody>
                    <a:bodyPr/>
                    <a:lstStyle/>
                    <a:p>
                      <a:pPr>
                        <a:defRPr sz="1380">
                          <a:solidFill>
                            <a:srgbClr val="44546A"/>
                          </a:solidFill>
                        </a:defRPr>
                      </a:pPr>
                      <a:r>
                        <a:rPr/>
                        <a:t>19,050</a:t>
                      </a:r>
                    </a:p>
                  </a:txBody>
                  <a:tcPr>
                    <a:solidFill>
                      <a:srgbClr val="EEF2F7"/>
                    </a:solidFill>
                  </a:tcPr>
                </a:tc>
                <a:tc>
                  <a:txBody>
                    <a:bodyPr/>
                    <a:lstStyle/>
                    <a:p>
                      <a:pPr>
                        <a:defRPr sz="1380">
                          <a:solidFill>
                            <a:srgbClr val="44546A"/>
                          </a:solidFill>
                        </a:defRPr>
                      </a:pPr>
                      <a:r>
                        <a:rPr/>
                        <a:t>23,702</a:t>
                      </a:r>
                    </a:p>
                  </a:txBody>
                  <a:tcPr>
                    <a:solidFill>
                      <a:srgbClr val="EEF2F7"/>
                    </a:solidFill>
                  </a:tcPr>
                </a:tc>
                <a:tc>
                  <a:txBody>
                    <a:bodyPr/>
                    <a:lstStyle/>
                    <a:p>
                      <a:pPr>
                        <a:defRPr sz="1380">
                          <a:solidFill>
                            <a:srgbClr val="44546A"/>
                          </a:solidFill>
                        </a:defRPr>
                      </a:pPr>
                      <a:r>
                        <a:rPr/>
                        <a:t>+4,652</a:t>
                      </a:r>
                    </a:p>
                  </a:txBody>
                  <a:tcPr>
                    <a:solidFill>
                      <a:srgbClr val="EEF2F7"/>
                    </a:solidFill>
                  </a:tcPr>
                </a:tc>
              </a:tr>
            </a:tbl>
          </a:graphicData>
        </a:graphic>
      </p:graphicFrame>
      <p:sp>
        <p:nvSpPr>
          <p:cNvPr id="4" name="TextBox 3"/>
          <p:cNvSpPr txBox="1"/>
          <p:nvPr/>
        </p:nvSpPr>
        <p:spPr>
          <a:xfrm>
            <a:off x="6583680" y="1371600"/>
            <a:ext cx="5166360" cy="4937760"/>
          </a:xfrm>
          <a:prstGeom prst="rect">
            <a:avLst/>
          </a:prstGeom>
          <a:noFill/>
        </p:spPr>
        <p:txBody>
          <a:bodyPr wrap="square">
            <a:spAutoFit/>
          </a:bodyPr>
          <a:lstStyle/>
          <a:p>
            <a:pPr>
              <a:spcAft>
                <a:spcPts val="700"/>
              </a:spcAft>
              <a:defRPr sz="1609">
                <a:solidFill>
                  <a:srgbClr val="1F3A5F"/>
                </a:solidFill>
              </a:defRPr>
            </a:pPr>
            <a:r>
              <a:rPr/>
              <a:t>• Only the combinational mapping changed (the ABC_AREA knob).</a:t>
            </a:r>
          </a:p>
          <a:p>
            <a:pPr>
              <a:spcAft>
                <a:spcPts val="700"/>
              </a:spcAft>
              <a:defRPr sz="1609">
                <a:solidFill>
                  <a:srgbClr val="1F3A5F"/>
                </a:solidFill>
              </a:defRPr>
            </a:pPr>
            <a:r>
              <a:rPr/>
              <a:t>• ~1.85× more combinational gates (3,458→6,404), each smaller — +85% gates for only +3% comb area.</a:t>
            </a:r>
          </a:p>
          <a:p>
            <a:pPr>
              <a:spcAft>
                <a:spcPts val="700"/>
              </a:spcAft>
              <a:defRPr sz="1609">
                <a:solidFill>
                  <a:srgbClr val="1F3A5F"/>
                </a:solidFill>
              </a:defRPr>
            </a:pPr>
            <a:r>
              <a:rPr/>
              <a:t>• ~7× more inverters (123→843, +2.7k µm²): the area map leans on inversions / AOI-OAI structures.</a:t>
            </a:r>
          </a:p>
          <a:p>
            <a:pPr>
              <a:spcAft>
                <a:spcPts val="700"/>
              </a:spcAft>
              <a:defRPr sz="1609">
                <a:solidFill>
                  <a:srgbClr val="1F3A5F"/>
                </a:solidFill>
              </a:defRPr>
            </a:pPr>
            <a:r>
              <a:rPr/>
              <a:t>• ~40% fewer timing-repair buffers (680→405, −2.3k µm²): smaller cells needed less resizer fixing.</a:t>
            </a:r>
          </a:p>
          <a:p>
            <a:pPr>
              <a:spcAft>
                <a:spcPts val="700"/>
              </a:spcAft>
              <a:defRPr sz="1609">
                <a:solidFill>
                  <a:srgbClr val="1F3A5F"/>
                </a:solidFill>
              </a:defRPr>
            </a:pPr>
            <a:r>
              <a:rPr/>
              <a:t>• FFs (1,056), tap cells and clock buffers ~unchanged; fill grows (+1,252) as the extra small cells leave gaps.</a:t>
            </a:r>
          </a:p>
          <a:p>
            <a:pPr>
              <a:spcAft>
                <a:spcPts val="700"/>
              </a:spcAft>
              <a:defRPr sz="1609">
                <a:solidFill>
                  <a:srgbClr val="1F3A5F"/>
                </a:solidFill>
              </a:defRPr>
            </a:pPr>
            <a:r>
              <a:rPr/>
              <a:t>• Net: a finer-grained, smaller-gate netlist the resizer + CTS could tune better → fmax 147.9→155.4 MHz AND power 19.7→18.8 mW at the same 7 ns clock.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Where the extra cells go — two critical loops</a:t>
            </a:r>
          </a:p>
          <a:p>
            <a:pPr>
              <a:defRPr sz="1725">
                <a:solidFill>
                  <a:srgbClr val="C9D8EE"/>
                </a:solidFill>
              </a:defRPr>
            </a:pPr>
            <a:r>
              <a:rPr/>
              <a:t>p7_power vs p7_delay: extra nand2 / nand3 / inv by endpoint loop</a:t>
            </a:r>
          </a:p>
        </p:txBody>
      </p:sp>
      <p:pic>
        <p:nvPicPr>
          <p:cNvPr id="3" name="Picture 2" descr="p7_area_loops.png"/>
          <p:cNvPicPr>
            <a:picLocks noChangeAspect="1"/>
          </p:cNvPicPr>
          <p:nvPr/>
        </p:nvPicPr>
        <p:blipFill>
          <a:blip r:embed="rId2"/>
          <a:stretch>
            <a:fillRect/>
          </a:stretch>
        </p:blipFill>
        <p:spPr>
          <a:xfrm>
            <a:off x="365760" y="1463040"/>
            <a:ext cx="6400800" cy="3661257"/>
          </a:xfrm>
          <a:prstGeom prst="rect">
            <a:avLst/>
          </a:prstGeom>
        </p:spPr>
      </p:pic>
      <p:graphicFrame>
        <p:nvGraphicFramePr>
          <p:cNvPr id="4" name="Table 3"/>
          <p:cNvGraphicFramePr>
            <a:graphicFrameLocks noGrp="1"/>
          </p:cNvGraphicFramePr>
          <p:nvPr/>
        </p:nvGraphicFramePr>
        <p:xfrm>
          <a:off x="7086600" y="1920240"/>
          <a:ext cx="4754877" cy="1865376"/>
        </p:xfrm>
        <a:graphic>
          <a:graphicData uri="http://schemas.openxmlformats.org/drawingml/2006/table">
            <a:tbl>
              <a:tblPr firstRow="1" bandRow="1">
                <a:tableStyleId>{5C22544A-7EE6-4342-B048-85BDC9FD1C3A}</a:tableStyleId>
              </a:tblPr>
              <a:tblGrid>
                <a:gridCol w="1668378"/>
                <a:gridCol w="834189"/>
                <a:gridCol w="750770"/>
                <a:gridCol w="750770"/>
                <a:gridCol w="750770"/>
              </a:tblGrid>
              <a:tr h="310896">
                <a:tc>
                  <a:txBody>
                    <a:bodyPr/>
                    <a:lstStyle/>
                    <a:p>
                      <a:pPr>
                        <a:defRPr sz="1495" b="1">
                          <a:solidFill>
                            <a:srgbClr val="FFFFFF"/>
                          </a:solidFill>
                        </a:defRPr>
                      </a:pPr>
                      <a:r>
                        <a:rPr/>
                        <a:t>Loop (endpoint FF)</a:t>
                      </a:r>
                    </a:p>
                  </a:txBody>
                  <a:tcPr>
                    <a:solidFill>
                      <a:srgbClr val="1F3A5F"/>
                    </a:solidFill>
                  </a:tcPr>
                </a:tc>
                <a:tc>
                  <a:txBody>
                    <a:bodyPr/>
                    <a:lstStyle/>
                    <a:p>
                      <a:pPr>
                        <a:defRPr sz="1495" b="1">
                          <a:solidFill>
                            <a:srgbClr val="FFFFFF"/>
                          </a:solidFill>
                        </a:defRPr>
                      </a:pPr>
                      <a:r>
                        <a:rPr/>
                        <a:t>Run</a:t>
                      </a:r>
                    </a:p>
                  </a:txBody>
                  <a:tcPr>
                    <a:solidFill>
                      <a:srgbClr val="1F3A5F"/>
                    </a:solidFill>
                  </a:tcPr>
                </a:tc>
                <a:tc>
                  <a:txBody>
                    <a:bodyPr/>
                    <a:lstStyle/>
                    <a:p>
                      <a:pPr>
                        <a:defRPr sz="1495" b="1">
                          <a:solidFill>
                            <a:srgbClr val="FFFFFF"/>
                          </a:solidFill>
                        </a:defRPr>
                      </a:pPr>
                      <a:r>
                        <a:rPr/>
                        <a:t>nand2</a:t>
                      </a:r>
                    </a:p>
                  </a:txBody>
                  <a:tcPr>
                    <a:solidFill>
                      <a:srgbClr val="1F3A5F"/>
                    </a:solidFill>
                  </a:tcPr>
                </a:tc>
                <a:tc>
                  <a:txBody>
                    <a:bodyPr/>
                    <a:lstStyle/>
                    <a:p>
                      <a:pPr>
                        <a:defRPr sz="1495" b="1">
                          <a:solidFill>
                            <a:srgbClr val="FFFFFF"/>
                          </a:solidFill>
                        </a:defRPr>
                      </a:pPr>
                      <a:r>
                        <a:rPr/>
                        <a:t>nand3</a:t>
                      </a:r>
                    </a:p>
                  </a:txBody>
                  <a:tcPr>
                    <a:solidFill>
                      <a:srgbClr val="1F3A5F"/>
                    </a:solidFill>
                  </a:tcPr>
                </a:tc>
                <a:tc>
                  <a:txBody>
                    <a:bodyPr/>
                    <a:lstStyle/>
                    <a:p>
                      <a:pPr>
                        <a:defRPr sz="1495" b="1">
                          <a:solidFill>
                            <a:srgbClr val="FFFFFF"/>
                          </a:solidFill>
                        </a:defRPr>
                      </a:pPr>
                      <a:r>
                        <a:rPr/>
                        <a:t>inv</a:t>
                      </a:r>
                    </a:p>
                  </a:txBody>
                  <a:tcPr>
                    <a:solidFill>
                      <a:srgbClr val="1F3A5F"/>
                    </a:solidFill>
                  </a:tcPr>
                </a:tc>
              </a:tr>
              <a:tr h="310896">
                <a:tc>
                  <a:txBody>
                    <a:bodyPr/>
                    <a:lstStyle/>
                    <a:p>
                      <a:pPr>
                        <a:defRPr sz="1380">
                          <a:solidFill>
                            <a:srgbClr val="44546A"/>
                          </a:solidFill>
                        </a:defRPr>
                      </a:pPr>
                      <a:r>
                        <a:rPr/>
                        <a:t>write-back (rf/D)</a:t>
                      </a:r>
                    </a:p>
                  </a:txBody>
                  <a:tcPr>
                    <a:solidFill>
                      <a:srgbClr val="FFFFFF"/>
                    </a:solidFill>
                  </a:tcPr>
                </a:tc>
                <a:tc>
                  <a:txBody>
                    <a:bodyPr/>
                    <a:lstStyle/>
                    <a:p>
                      <a:pPr>
                        <a:defRPr sz="1380">
                          <a:solidFill>
                            <a:srgbClr val="44546A"/>
                          </a:solidFill>
                        </a:defRPr>
                      </a:pPr>
                      <a:r>
                        <a:rPr/>
                        <a:t>p7_delay</a:t>
                      </a:r>
                    </a:p>
                  </a:txBody>
                  <a:tcPr>
                    <a:solidFill>
                      <a:srgbClr val="FFFFFF"/>
                    </a:solidFill>
                  </a:tcPr>
                </a:tc>
                <a:tc>
                  <a:txBody>
                    <a:bodyPr/>
                    <a:lstStyle/>
                    <a:p>
                      <a:pPr>
                        <a:defRPr sz="1380">
                          <a:solidFill>
                            <a:srgbClr val="44546A"/>
                          </a:solidFill>
                        </a:defRPr>
                      </a:pPr>
                      <a:r>
                        <a:rPr/>
                        <a:t>151</a:t>
                      </a:r>
                    </a:p>
                  </a:txBody>
                  <a:tcPr>
                    <a:solidFill>
                      <a:srgbClr val="FFFFFF"/>
                    </a:solidFill>
                  </a:tcPr>
                </a:tc>
                <a:tc>
                  <a:txBody>
                    <a:bodyPr/>
                    <a:lstStyle/>
                    <a:p>
                      <a:pPr>
                        <a:defRPr sz="1380">
                          <a:solidFill>
                            <a:srgbClr val="44546A"/>
                          </a:solidFill>
                        </a:defRPr>
                      </a:pPr>
                      <a:r>
                        <a:rPr/>
                        <a:t>30</a:t>
                      </a:r>
                    </a:p>
                  </a:txBody>
                  <a:tcPr>
                    <a:solidFill>
                      <a:srgbClr val="FFFFFF"/>
                    </a:solidFill>
                  </a:tcPr>
                </a:tc>
                <a:tc>
                  <a:txBody>
                    <a:bodyPr/>
                    <a:lstStyle/>
                    <a:p>
                      <a:pPr>
                        <a:defRPr sz="1380">
                          <a:solidFill>
                            <a:srgbClr val="44546A"/>
                          </a:solidFill>
                        </a:defRPr>
                      </a:pPr>
                      <a:r>
                        <a:rPr/>
                        <a:t>40</a:t>
                      </a:r>
                    </a:p>
                  </a:txBody>
                  <a:tcPr>
                    <a:solidFill>
                      <a:srgbClr val="FFFFFF"/>
                    </a:solidFill>
                  </a:tcPr>
                </a:tc>
              </a:tr>
              <a:tr h="310896">
                <a:tc>
                  <a:txBody>
                    <a:bodyPr/>
                    <a:lstStyle/>
                    <a:p>
                      <a:pPr>
                        <a:defRPr sz="1380">
                          <a:solidFill>
                            <a:srgbClr val="44546A"/>
                          </a:solidFill>
                        </a:defRPr>
                      </a:pPr>
                    </a:p>
                  </a:txBody>
                  <a:tcPr>
                    <a:solidFill>
                      <a:srgbClr val="EEF2F7"/>
                    </a:solidFill>
                  </a:tcPr>
                </a:tc>
                <a:tc>
                  <a:txBody>
                    <a:bodyPr/>
                    <a:lstStyle/>
                    <a:p>
                      <a:pPr>
                        <a:defRPr sz="1380">
                          <a:solidFill>
                            <a:srgbClr val="44546A"/>
                          </a:solidFill>
                        </a:defRPr>
                      </a:pPr>
                      <a:r>
                        <a:rPr/>
                        <a:t>p7_power</a:t>
                      </a:r>
                    </a:p>
                  </a:txBody>
                  <a:tcPr>
                    <a:solidFill>
                      <a:srgbClr val="EEF2F7"/>
                    </a:solidFill>
                  </a:tcPr>
                </a:tc>
                <a:tc>
                  <a:txBody>
                    <a:bodyPr/>
                    <a:lstStyle/>
                    <a:p>
                      <a:pPr>
                        <a:defRPr sz="1380">
                          <a:solidFill>
                            <a:srgbClr val="44546A"/>
                          </a:solidFill>
                        </a:defRPr>
                      </a:pPr>
                      <a:r>
                        <a:rPr/>
                        <a:t>1,527</a:t>
                      </a:r>
                    </a:p>
                  </a:txBody>
                  <a:tcPr>
                    <a:solidFill>
                      <a:srgbClr val="EEF2F7"/>
                    </a:solidFill>
                  </a:tcPr>
                </a:tc>
                <a:tc>
                  <a:txBody>
                    <a:bodyPr/>
                    <a:lstStyle/>
                    <a:p>
                      <a:pPr>
                        <a:defRPr sz="1380">
                          <a:solidFill>
                            <a:srgbClr val="44546A"/>
                          </a:solidFill>
                        </a:defRPr>
                      </a:pPr>
                      <a:r>
                        <a:rPr/>
                        <a:t>566</a:t>
                      </a:r>
                    </a:p>
                  </a:txBody>
                  <a:tcPr>
                    <a:solidFill>
                      <a:srgbClr val="EEF2F7"/>
                    </a:solidFill>
                  </a:tcPr>
                </a:tc>
                <a:tc>
                  <a:txBody>
                    <a:bodyPr/>
                    <a:lstStyle/>
                    <a:p>
                      <a:pPr>
                        <a:defRPr sz="1380">
                          <a:solidFill>
                            <a:srgbClr val="44546A"/>
                          </a:solidFill>
                        </a:defRPr>
                      </a:pPr>
                      <a:r>
                        <a:rPr/>
                        <a:t>423</a:t>
                      </a:r>
                    </a:p>
                  </a:txBody>
                  <a:tcPr>
                    <a:solidFill>
                      <a:srgbClr val="EEF2F7"/>
                    </a:solidFill>
                  </a:tcPr>
                </a:tc>
              </a:tr>
              <a:tr h="310896">
                <a:tc>
                  <a:txBody>
                    <a:bodyPr/>
                    <a:lstStyle/>
                    <a:p>
                      <a:pPr>
                        <a:defRPr sz="1380">
                          <a:solidFill>
                            <a:srgbClr val="44546A"/>
                          </a:solidFill>
                        </a:defRPr>
                      </a:pPr>
                      <a:r>
                        <a:rPr/>
                        <a:t>PC / branch (pcreg/D)</a:t>
                      </a:r>
                    </a:p>
                  </a:txBody>
                  <a:tcPr>
                    <a:solidFill>
                      <a:srgbClr val="FFFFFF"/>
                    </a:solidFill>
                  </a:tcPr>
                </a:tc>
                <a:tc>
                  <a:txBody>
                    <a:bodyPr/>
                    <a:lstStyle/>
                    <a:p>
                      <a:pPr>
                        <a:defRPr sz="1380">
                          <a:solidFill>
                            <a:srgbClr val="44546A"/>
                          </a:solidFill>
                        </a:defRPr>
                      </a:pPr>
                      <a:r>
                        <a:rPr/>
                        <a:t>p7_delay</a:t>
                      </a:r>
                    </a:p>
                  </a:txBody>
                  <a:tcPr>
                    <a:solidFill>
                      <a:srgbClr val="FFFFFF"/>
                    </a:solidFill>
                  </a:tcPr>
                </a:tc>
                <a:tc>
                  <a:txBody>
                    <a:bodyPr/>
                    <a:lstStyle/>
                    <a:p>
                      <a:pPr>
                        <a:defRPr sz="1380">
                          <a:solidFill>
                            <a:srgbClr val="44546A"/>
                          </a:solidFill>
                        </a:defRPr>
                      </a:pPr>
                      <a:r>
                        <a:rPr/>
                        <a:t>175</a:t>
                      </a:r>
                    </a:p>
                  </a:txBody>
                  <a:tcPr>
                    <a:solidFill>
                      <a:srgbClr val="FFFFFF"/>
                    </a:solidFill>
                  </a:tcPr>
                </a:tc>
                <a:tc>
                  <a:txBody>
                    <a:bodyPr/>
                    <a:lstStyle/>
                    <a:p>
                      <a:pPr>
                        <a:defRPr sz="1380">
                          <a:solidFill>
                            <a:srgbClr val="44546A"/>
                          </a:solidFill>
                        </a:defRPr>
                      </a:pPr>
                      <a:r>
                        <a:rPr/>
                        <a:t>40</a:t>
                      </a:r>
                    </a:p>
                  </a:txBody>
                  <a:tcPr>
                    <a:solidFill>
                      <a:srgbClr val="FFFFFF"/>
                    </a:solidFill>
                  </a:tcPr>
                </a:tc>
                <a:tc>
                  <a:txBody>
                    <a:bodyPr/>
                    <a:lstStyle/>
                    <a:p>
                      <a:pPr>
                        <a:defRPr sz="1380">
                          <a:solidFill>
                            <a:srgbClr val="44546A"/>
                          </a:solidFill>
                        </a:defRPr>
                      </a:pPr>
                      <a:r>
                        <a:rPr/>
                        <a:t>33</a:t>
                      </a:r>
                    </a:p>
                  </a:txBody>
                  <a:tcPr>
                    <a:solidFill>
                      <a:srgbClr val="FFFFFF"/>
                    </a:solidFill>
                  </a:tcPr>
                </a:tc>
              </a:tr>
              <a:tr h="310896">
                <a:tc>
                  <a:txBody>
                    <a:bodyPr/>
                    <a:lstStyle/>
                    <a:p>
                      <a:pPr>
                        <a:defRPr sz="1380">
                          <a:solidFill>
                            <a:srgbClr val="44546A"/>
                          </a:solidFill>
                        </a:defRPr>
                      </a:pPr>
                    </a:p>
                  </a:txBody>
                  <a:tcPr>
                    <a:solidFill>
                      <a:srgbClr val="EEF2F7"/>
                    </a:solidFill>
                  </a:tcPr>
                </a:tc>
                <a:tc>
                  <a:txBody>
                    <a:bodyPr/>
                    <a:lstStyle/>
                    <a:p>
                      <a:pPr>
                        <a:defRPr sz="1380">
                          <a:solidFill>
                            <a:srgbClr val="44546A"/>
                          </a:solidFill>
                        </a:defRPr>
                      </a:pPr>
                      <a:r>
                        <a:rPr/>
                        <a:t>p7_power</a:t>
                      </a:r>
                    </a:p>
                  </a:txBody>
                  <a:tcPr>
                    <a:solidFill>
                      <a:srgbClr val="EEF2F7"/>
                    </a:solidFill>
                  </a:tcPr>
                </a:tc>
                <a:tc>
                  <a:txBody>
                    <a:bodyPr/>
                    <a:lstStyle/>
                    <a:p>
                      <a:pPr>
                        <a:defRPr sz="1380">
                          <a:solidFill>
                            <a:srgbClr val="44546A"/>
                          </a:solidFill>
                        </a:defRPr>
                      </a:pPr>
                      <a:r>
                        <a:rPr/>
                        <a:t>1,341</a:t>
                      </a:r>
                    </a:p>
                  </a:txBody>
                  <a:tcPr>
                    <a:solidFill>
                      <a:srgbClr val="EEF2F7"/>
                    </a:solidFill>
                  </a:tcPr>
                </a:tc>
                <a:tc>
                  <a:txBody>
                    <a:bodyPr/>
                    <a:lstStyle/>
                    <a:p>
                      <a:pPr>
                        <a:defRPr sz="1380">
                          <a:solidFill>
                            <a:srgbClr val="44546A"/>
                          </a:solidFill>
                        </a:defRPr>
                      </a:pPr>
                      <a:r>
                        <a:rPr/>
                        <a:t>538</a:t>
                      </a:r>
                    </a:p>
                  </a:txBody>
                  <a:tcPr>
                    <a:solidFill>
                      <a:srgbClr val="EEF2F7"/>
                    </a:solidFill>
                  </a:tcPr>
                </a:tc>
                <a:tc>
                  <a:txBody>
                    <a:bodyPr/>
                    <a:lstStyle/>
                    <a:p>
                      <a:pPr>
                        <a:defRPr sz="1380">
                          <a:solidFill>
                            <a:srgbClr val="44546A"/>
                          </a:solidFill>
                        </a:defRPr>
                      </a:pPr>
                      <a:r>
                        <a:rPr/>
                        <a:t>395</a:t>
                      </a:r>
                    </a:p>
                  </a:txBody>
                  <a:tcPr>
                    <a:solidFill>
                      <a:srgbClr val="EEF2F7"/>
                    </a:solidFill>
                  </a:tcPr>
                </a:tc>
              </a:tr>
              <a:tr h="310896">
                <a:tc>
                  <a:txBody>
                    <a:bodyPr/>
                    <a:lstStyle/>
                    <a:p>
                      <a:pPr>
                        <a:defRPr sz="1380">
                          <a:solidFill>
                            <a:srgbClr val="44546A"/>
                          </a:solidFill>
                        </a:defRPr>
                      </a:pPr>
                      <a:r>
                        <a:rPr/>
                        <a:t>Δ (area − delay)</a:t>
                      </a:r>
                    </a:p>
                  </a:txBody>
                  <a:tcPr>
                    <a:solidFill>
                      <a:srgbClr val="FFFFFF"/>
                    </a:solidFill>
                  </a:tcPr>
                </a:tc>
                <a:tc>
                  <a:txBody>
                    <a:bodyPr/>
                    <a:lstStyle/>
                    <a:p>
                      <a:pPr>
                        <a:defRPr sz="1380">
                          <a:solidFill>
                            <a:srgbClr val="44546A"/>
                          </a:solidFill>
                        </a:defRPr>
                      </a:pPr>
                      <a:r>
                        <a:rPr/>
                        <a:t>total</a:t>
                      </a:r>
                    </a:p>
                  </a:txBody>
                  <a:tcPr>
                    <a:solidFill>
                      <a:srgbClr val="FFFFFF"/>
                    </a:solidFill>
                  </a:tcPr>
                </a:tc>
                <a:tc>
                  <a:txBody>
                    <a:bodyPr/>
                    <a:lstStyle/>
                    <a:p>
                      <a:pPr>
                        <a:defRPr sz="1380">
                          <a:solidFill>
                            <a:srgbClr val="44546A"/>
                          </a:solidFill>
                        </a:defRPr>
                      </a:pPr>
                      <a:r>
                        <a:rPr/>
                        <a:t>+2,542</a:t>
                      </a:r>
                    </a:p>
                  </a:txBody>
                  <a:tcPr>
                    <a:solidFill>
                      <a:srgbClr val="FFFFFF"/>
                    </a:solidFill>
                  </a:tcPr>
                </a:tc>
                <a:tc>
                  <a:txBody>
                    <a:bodyPr/>
                    <a:lstStyle/>
                    <a:p>
                      <a:pPr>
                        <a:defRPr sz="1380">
                          <a:solidFill>
                            <a:srgbClr val="44546A"/>
                          </a:solidFill>
                        </a:defRPr>
                      </a:pPr>
                      <a:r>
                        <a:rPr/>
                        <a:t>+1,034</a:t>
                      </a:r>
                    </a:p>
                  </a:txBody>
                  <a:tcPr>
                    <a:solidFill>
                      <a:srgbClr val="FFFFFF"/>
                    </a:solidFill>
                  </a:tcPr>
                </a:tc>
                <a:tc>
                  <a:txBody>
                    <a:bodyPr/>
                    <a:lstStyle/>
                    <a:p>
                      <a:pPr>
                        <a:defRPr sz="1380">
                          <a:solidFill>
                            <a:srgbClr val="44546A"/>
                          </a:solidFill>
                        </a:defRPr>
                      </a:pPr>
                      <a:r>
                        <a:rPr/>
                        <a:t>+745</a:t>
                      </a:r>
                    </a:p>
                  </a:txBody>
                  <a:tcPr>
                    <a:solidFill>
                      <a:srgbClr val="FFFFFF"/>
                    </a:solidFill>
                  </a:tcPr>
                </a:tc>
              </a:tr>
            </a:tbl>
          </a:graphicData>
        </a:graphic>
      </p:graphicFrame>
      <p:sp>
        <p:nvSpPr>
          <p:cNvPr id="5" name="TextBox 4"/>
          <p:cNvSpPr txBox="1"/>
          <p:nvPr/>
        </p:nvSpPr>
        <p:spPr>
          <a:xfrm>
            <a:off x="7086600" y="4663440"/>
            <a:ext cx="4754880" cy="1737360"/>
          </a:xfrm>
          <a:prstGeom prst="rect">
            <a:avLst/>
          </a:prstGeom>
          <a:noFill/>
        </p:spPr>
        <p:txBody>
          <a:bodyPr wrap="square">
            <a:spAutoFit/>
          </a:bodyPr>
          <a:lstStyle/>
          <a:p>
            <a:pPr>
              <a:spcAft>
                <a:spcPts val="700"/>
              </a:spcAft>
              <a:defRPr sz="1380">
                <a:solidFill>
                  <a:srgbClr val="1F3A5F"/>
                </a:solidFill>
              </a:defRPr>
            </a:pPr>
            <a:r>
              <a:rPr/>
              <a:t>• Extra cells split ~53% / ~47% between the register-file write-back loop and the PC/branch loop — both sequential loops were re-expressed.</a:t>
            </a:r>
          </a:p>
          <a:p>
            <a:pPr>
              <a:spcAft>
                <a:spcPts val="700"/>
              </a:spcAft>
              <a:defRPr sz="1380">
                <a:solidFill>
                  <a:srgbClr val="1F3A5F"/>
                </a:solidFill>
              </a:defRPr>
            </a:pPr>
            <a:r>
              <a:rPr/>
              <a:t>• Avg logic levels/path: p7_delay 21.5 vs p7_power 24.7 — more levels.</a:t>
            </a:r>
          </a:p>
          <a:p>
            <a:pPr>
              <a:spcAft>
                <a:spcPts val="700"/>
              </a:spcAft>
              <a:defRPr sz="1380">
                <a:solidFill>
                  <a:srgbClr val="1F3A5F"/>
                </a:solidFill>
              </a:defRPr>
            </a:pPr>
            <a:r>
              <a:rPr/>
              <a:t>• Avg logical effort/stage: p7_delay 1.96 vs p7_power 1.68 — each stage is cheaper (Σg ≈ 42 both).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Why the critical loops prefer NAND2 / NAND3 / INVERTER cells</a:t>
            </a:r>
          </a:p>
        </p:txBody>
      </p:sp>
      <p:sp>
        <p:nvSpPr>
          <p:cNvPr id="3" name="TextBox 2"/>
          <p:cNvSpPr txBox="1"/>
          <p:nvPr/>
        </p:nvSpPr>
        <p:spPr>
          <a:xfrm>
            <a:off x="548640" y="1371600"/>
            <a:ext cx="11064240" cy="5212080"/>
          </a:xfrm>
          <a:prstGeom prst="rect">
            <a:avLst/>
          </a:prstGeom>
          <a:noFill/>
        </p:spPr>
        <p:txBody>
          <a:bodyPr wrap="square">
            <a:spAutoFit/>
          </a:bodyPr>
          <a:lstStyle/>
          <a:p>
            <a:pPr>
              <a:spcAft>
                <a:spcPts val="1000"/>
              </a:spcAft>
              <a:defRPr sz="1954">
                <a:solidFill>
                  <a:srgbClr val="1F3A5F"/>
                </a:solidFill>
              </a:defRPr>
            </a:pPr>
            <a:r>
              <a:rPr/>
              <a:t>• Logical effort: inverter = 1.0, nand2 = 4/3, nor2 = 5/3 — the LOWEST of any gate; compound AOI/OAI (2–3) and 4:1 muxes are much higher.</a:t>
            </a:r>
          </a:p>
          <a:p>
            <a:pPr>
              <a:spcAft>
                <a:spcPts val="1000"/>
              </a:spcAft>
              <a:defRPr sz="1954">
                <a:solidFill>
                  <a:srgbClr val="1F3A5F"/>
                </a:solidFill>
              </a:defRPr>
            </a:pPr>
            <a:r>
              <a:rPr/>
              <a:t>• A 32-bit ALU / comparator / mux network re-decomposes into shallower stages of low-effort gates, so the whole path has less stage delay.</a:t>
            </a:r>
          </a:p>
          <a:p>
            <a:pPr>
              <a:spcAft>
                <a:spcPts val="1000"/>
              </a:spcAft>
              <a:defRPr sz="1954">
                <a:solidFill>
                  <a:srgbClr val="1F3A5F"/>
                </a:solidFill>
              </a:defRPr>
            </a:pPr>
            <a:r>
              <a:rPr/>
              <a:t>• Shallow series stacks: nand/nor stack only 2–3 devices in series, vs deep AOI/OAI stacks — less intrinsic delay per logical level.</a:t>
            </a:r>
          </a:p>
          <a:p>
            <a:pPr>
              <a:spcAft>
                <a:spcPts val="1000"/>
              </a:spcAft>
              <a:defRPr sz="1954">
                <a:solidFill>
                  <a:srgbClr val="1F3A5F"/>
                </a:solidFill>
              </a:defRPr>
            </a:pPr>
            <a:r>
              <a:rPr/>
              <a:t>• Drive-strength granularity: nand2/nand3/inv ship in X1…X8, so the resizer picks the exact drive to match each stage's fanout.</a:t>
            </a:r>
          </a:p>
          <a:p>
            <a:pPr>
              <a:spcAft>
                <a:spcPts val="1000"/>
              </a:spcAft>
              <a:defRPr sz="1954">
                <a:solidFill>
                  <a:srgbClr val="1F3A5F"/>
                </a:solidFill>
              </a:defRPr>
            </a:pPr>
            <a:r>
              <a:rPr/>
              <a:t>• The area map (map -B 0.9) emits this fine, uniform gate mix; resizer + CTS then tune it on the fixed 7 ns clock, whereas the delay map pre-sized with wide cells and left less room.</a:t>
            </a:r>
          </a:p>
          <a:p>
            <a:pPr>
              <a:spcAft>
                <a:spcPts val="1000"/>
              </a:spcAft>
              <a:defRPr sz="1954">
                <a:solidFill>
                  <a:srgbClr val="1F3A5F"/>
                </a:solidFill>
              </a:defRPr>
            </a:pPr>
            <a:r>
              <a:rPr/>
              <a:t>• Net effect at the same clock: fmax 147.9 → 155.4 MHz and power 19.7 → 18.8 mW — the extra nand/inv gates ARE the speedup, not a cost.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Logical-effort distribution (stages)</a:t>
            </a:r>
          </a:p>
          <a:p>
            <a:pPr>
              <a:defRPr sz="1725">
                <a:solidFill>
                  <a:srgbClr val="C9D8EE"/>
                </a:solidFill>
              </a:defRPr>
            </a:pPr>
            <a:r>
              <a:rPr/>
              <a:t>per-stage g over the worst 264 paths of each run</a:t>
            </a:r>
          </a:p>
        </p:txBody>
      </p:sp>
      <p:graphicFrame>
        <p:nvGraphicFramePr>
          <p:cNvPr id="3" name="Table 2"/>
          <p:cNvGraphicFramePr>
            <a:graphicFrameLocks noGrp="1"/>
          </p:cNvGraphicFramePr>
          <p:nvPr/>
        </p:nvGraphicFramePr>
        <p:xfrm>
          <a:off x="548640" y="1234440"/>
          <a:ext cx="11064239" cy="3108960"/>
        </p:xfrm>
        <a:graphic>
          <a:graphicData uri="http://schemas.openxmlformats.org/drawingml/2006/table">
            <a:tbl>
              <a:tblPr firstRow="1" bandRow="1">
                <a:tableStyleId>{5C22544A-7EE6-4342-B048-85BDC9FD1C3A}</a:tableStyleId>
              </a:tblPr>
              <a:tblGrid>
                <a:gridCol w="1412456"/>
                <a:gridCol w="6120643"/>
                <a:gridCol w="1765570"/>
                <a:gridCol w="1765570"/>
              </a:tblGrid>
              <a:tr h="310896">
                <a:tc>
                  <a:txBody>
                    <a:bodyPr/>
                    <a:lstStyle/>
                    <a:p>
                      <a:pPr>
                        <a:defRPr sz="1725" b="1">
                          <a:solidFill>
                            <a:srgbClr val="FFFFFF"/>
                          </a:solidFill>
                        </a:defRPr>
                      </a:pPr>
                      <a:r>
                        <a:rPr/>
                        <a:t>g</a:t>
                      </a:r>
                    </a:p>
                  </a:txBody>
                  <a:tcPr>
                    <a:solidFill>
                      <a:srgbClr val="1F3A5F"/>
                    </a:solidFill>
                  </a:tcPr>
                </a:tc>
                <a:tc>
                  <a:txBody>
                    <a:bodyPr/>
                    <a:lstStyle/>
                    <a:p>
                      <a:pPr>
                        <a:defRPr sz="1725" b="1">
                          <a:solidFill>
                            <a:srgbClr val="FFFFFF"/>
                          </a:solidFill>
                        </a:defRPr>
                      </a:pPr>
                      <a:r>
                        <a:rPr/>
                        <a:t>gate types</a:t>
                      </a:r>
                    </a:p>
                  </a:txBody>
                  <a:tcPr>
                    <a:solidFill>
                      <a:srgbClr val="1F3A5F"/>
                    </a:solidFill>
                  </a:tcPr>
                </a:tc>
                <a:tc>
                  <a:txBody>
                    <a:bodyPr/>
                    <a:lstStyle/>
                    <a:p>
                      <a:pPr>
                        <a:defRPr sz="1725" b="1">
                          <a:solidFill>
                            <a:srgbClr val="FFFFFF"/>
                          </a:solidFill>
                        </a:defRPr>
                      </a:pPr>
                      <a:r>
                        <a:rPr/>
                        <a:t>p7_delay</a:t>
                      </a:r>
                    </a:p>
                  </a:txBody>
                  <a:tcPr>
                    <a:solidFill>
                      <a:srgbClr val="1F3A5F"/>
                    </a:solidFill>
                  </a:tcPr>
                </a:tc>
                <a:tc>
                  <a:txBody>
                    <a:bodyPr/>
                    <a:lstStyle/>
                    <a:p>
                      <a:pPr>
                        <a:defRPr sz="1725" b="1">
                          <a:solidFill>
                            <a:srgbClr val="FFFFFF"/>
                          </a:solidFill>
                        </a:defRPr>
                      </a:pPr>
                      <a:r>
                        <a:rPr/>
                        <a:t>p7_power</a:t>
                      </a:r>
                    </a:p>
                  </a:txBody>
                  <a:tcPr>
                    <a:solidFill>
                      <a:srgbClr val="1F3A5F"/>
                    </a:solidFill>
                  </a:tcPr>
                </a:tc>
              </a:tr>
              <a:tr h="310896">
                <a:tc>
                  <a:txBody>
                    <a:bodyPr/>
                    <a:lstStyle/>
                    <a:p>
                      <a:pPr>
                        <a:defRPr sz="1609">
                          <a:solidFill>
                            <a:srgbClr val="44546A"/>
                          </a:solidFill>
                        </a:defRPr>
                      </a:pPr>
                      <a:r>
                        <a:rPr/>
                        <a:t>1.00</a:t>
                      </a:r>
                    </a:p>
                  </a:txBody>
                  <a:tcPr>
                    <a:solidFill>
                      <a:srgbClr val="FFFFFF"/>
                    </a:solidFill>
                  </a:tcPr>
                </a:tc>
                <a:tc>
                  <a:txBody>
                    <a:bodyPr/>
                    <a:lstStyle/>
                    <a:p>
                      <a:pPr>
                        <a:defRPr sz="1609">
                          <a:solidFill>
                            <a:srgbClr val="44546A"/>
                          </a:solidFill>
                        </a:defRPr>
                      </a:pPr>
                      <a:r>
                        <a:rPr/>
                        <a:t>inv / buf</a:t>
                      </a:r>
                    </a:p>
                  </a:txBody>
                  <a:tcPr>
                    <a:solidFill>
                      <a:srgbClr val="FFFFFF"/>
                    </a:solidFill>
                  </a:tcPr>
                </a:tc>
                <a:tc>
                  <a:txBody>
                    <a:bodyPr/>
                    <a:lstStyle/>
                    <a:p>
                      <a:pPr>
                        <a:defRPr sz="1609">
                          <a:solidFill>
                            <a:srgbClr val="44546A"/>
                          </a:solidFill>
                        </a:defRPr>
                      </a:pPr>
                      <a:r>
                        <a:rPr/>
                        <a:t>1,623</a:t>
                      </a:r>
                    </a:p>
                  </a:txBody>
                  <a:tcPr>
                    <a:solidFill>
                      <a:srgbClr val="FFFFFF"/>
                    </a:solidFill>
                  </a:tcPr>
                </a:tc>
                <a:tc>
                  <a:txBody>
                    <a:bodyPr/>
                    <a:lstStyle/>
                    <a:p>
                      <a:pPr>
                        <a:defRPr sz="1609">
                          <a:solidFill>
                            <a:srgbClr val="44546A"/>
                          </a:solidFill>
                        </a:defRPr>
                      </a:pPr>
                      <a:r>
                        <a:rPr/>
                        <a:t>719</a:t>
                      </a:r>
                    </a:p>
                  </a:txBody>
                  <a:tcPr>
                    <a:solidFill>
                      <a:srgbClr val="FFFFFF"/>
                    </a:solidFill>
                  </a:tcPr>
                </a:tc>
              </a:tr>
              <a:tr h="310896">
                <a:tc>
                  <a:txBody>
                    <a:bodyPr/>
                    <a:lstStyle/>
                    <a:p>
                      <a:pPr>
                        <a:defRPr sz="1609">
                          <a:solidFill>
                            <a:srgbClr val="44546A"/>
                          </a:solidFill>
                        </a:defRPr>
                      </a:pPr>
                      <a:r>
                        <a:rPr/>
                        <a:t>1.33</a:t>
                      </a:r>
                    </a:p>
                  </a:txBody>
                  <a:tcPr>
                    <a:solidFill>
                      <a:srgbClr val="EEF2F7"/>
                    </a:solidFill>
                  </a:tcPr>
                </a:tc>
                <a:tc>
                  <a:txBody>
                    <a:bodyPr/>
                    <a:lstStyle/>
                    <a:p>
                      <a:pPr>
                        <a:defRPr sz="1609">
                          <a:solidFill>
                            <a:srgbClr val="44546A"/>
                          </a:solidFill>
                        </a:defRPr>
                      </a:pPr>
                      <a:r>
                        <a:rPr/>
                        <a:t>nand2</a:t>
                      </a:r>
                    </a:p>
                  </a:txBody>
                  <a:tcPr>
                    <a:solidFill>
                      <a:srgbClr val="EEF2F7"/>
                    </a:solidFill>
                  </a:tcPr>
                </a:tc>
                <a:tc>
                  <a:txBody>
                    <a:bodyPr/>
                    <a:lstStyle/>
                    <a:p>
                      <a:pPr>
                        <a:defRPr sz="1609">
                          <a:solidFill>
                            <a:srgbClr val="44546A"/>
                          </a:solidFill>
                        </a:defRPr>
                      </a:pPr>
                      <a:r>
                        <a:rPr/>
                        <a:t>181</a:t>
                      </a:r>
                    </a:p>
                  </a:txBody>
                  <a:tcPr>
                    <a:solidFill>
                      <a:srgbClr val="EEF2F7"/>
                    </a:solidFill>
                  </a:tcPr>
                </a:tc>
                <a:tc>
                  <a:txBody>
                    <a:bodyPr/>
                    <a:lstStyle/>
                    <a:p>
                      <a:pPr>
                        <a:defRPr sz="1609">
                          <a:solidFill>
                            <a:srgbClr val="44546A"/>
                          </a:solidFill>
                        </a:defRPr>
                      </a:pPr>
                      <a:r>
                        <a:rPr/>
                        <a:t>2,591</a:t>
                      </a:r>
                    </a:p>
                  </a:txBody>
                  <a:tcPr>
                    <a:solidFill>
                      <a:srgbClr val="EEF2F7"/>
                    </a:solidFill>
                  </a:tcPr>
                </a:tc>
              </a:tr>
              <a:tr h="310896">
                <a:tc>
                  <a:txBody>
                    <a:bodyPr/>
                    <a:lstStyle/>
                    <a:p>
                      <a:pPr>
                        <a:defRPr sz="1609">
                          <a:solidFill>
                            <a:srgbClr val="44546A"/>
                          </a:solidFill>
                        </a:defRPr>
                      </a:pPr>
                      <a:r>
                        <a:rPr/>
                        <a:t>1.60–1.80</a:t>
                      </a:r>
                    </a:p>
                  </a:txBody>
                  <a:tcPr>
                    <a:solidFill>
                      <a:srgbClr val="FFFFFF"/>
                    </a:solidFill>
                  </a:tcPr>
                </a:tc>
                <a:tc>
                  <a:txBody>
                    <a:bodyPr/>
                    <a:lstStyle/>
                    <a:p>
                      <a:pPr>
                        <a:defRPr sz="1609">
                          <a:solidFill>
                            <a:srgbClr val="44546A"/>
                          </a:solidFill>
                        </a:defRPr>
                      </a:pPr>
                      <a:r>
                        <a:rPr/>
                        <a:t>a21o/a22o/o21a/o22a · nand3</a:t>
                      </a:r>
                    </a:p>
                  </a:txBody>
                  <a:tcPr>
                    <a:solidFill>
                      <a:srgbClr val="FFFFFF"/>
                    </a:solidFill>
                  </a:tcPr>
                </a:tc>
                <a:tc>
                  <a:txBody>
                    <a:bodyPr/>
                    <a:lstStyle/>
                    <a:p>
                      <a:pPr>
                        <a:defRPr sz="1609">
                          <a:solidFill>
                            <a:srgbClr val="44546A"/>
                          </a:solidFill>
                        </a:defRPr>
                      </a:pPr>
                      <a:r>
                        <a:rPr/>
                        <a:t>694</a:t>
                      </a:r>
                    </a:p>
                  </a:txBody>
                  <a:tcPr>
                    <a:solidFill>
                      <a:srgbClr val="FFFFFF"/>
                    </a:solidFill>
                  </a:tcPr>
                </a:tc>
                <a:tc>
                  <a:txBody>
                    <a:bodyPr/>
                    <a:lstStyle/>
                    <a:p>
                      <a:pPr>
                        <a:defRPr sz="1609">
                          <a:solidFill>
                            <a:srgbClr val="44546A"/>
                          </a:solidFill>
                        </a:defRPr>
                      </a:pPr>
                      <a:r>
                        <a:rPr/>
                        <a:t>885</a:t>
                      </a:r>
                    </a:p>
                  </a:txBody>
                  <a:tcPr>
                    <a:solidFill>
                      <a:srgbClr val="FFFFFF"/>
                    </a:solidFill>
                  </a:tcPr>
                </a:tc>
              </a:tr>
              <a:tr h="310896">
                <a:tc>
                  <a:txBody>
                    <a:bodyPr/>
                    <a:lstStyle/>
                    <a:p>
                      <a:pPr>
                        <a:defRPr sz="1609">
                          <a:solidFill>
                            <a:srgbClr val="44546A"/>
                          </a:solidFill>
                        </a:defRPr>
                      </a:pPr>
                      <a:r>
                        <a:rPr/>
                        <a:t>2.00</a:t>
                      </a:r>
                    </a:p>
                  </a:txBody>
                  <a:tcPr>
                    <a:solidFill>
                      <a:srgbClr val="EEF2F7"/>
                    </a:solidFill>
                  </a:tcPr>
                </a:tc>
                <a:tc>
                  <a:txBody>
                    <a:bodyPr/>
                    <a:lstStyle/>
                    <a:p>
                      <a:pPr>
                        <a:defRPr sz="1609">
                          <a:solidFill>
                            <a:srgbClr val="44546A"/>
                          </a:solidFill>
                        </a:defRPr>
                      </a:pPr>
                      <a:r>
                        <a:rPr/>
                        <a:t>aoi21 / oai21 / mux2 / ha</a:t>
                      </a:r>
                    </a:p>
                  </a:txBody>
                  <a:tcPr>
                    <a:solidFill>
                      <a:srgbClr val="EEF2F7"/>
                    </a:solidFill>
                  </a:tcPr>
                </a:tc>
                <a:tc>
                  <a:txBody>
                    <a:bodyPr/>
                    <a:lstStyle/>
                    <a:p>
                      <a:pPr>
                        <a:defRPr sz="1609">
                          <a:solidFill>
                            <a:srgbClr val="44546A"/>
                          </a:solidFill>
                        </a:defRPr>
                      </a:pPr>
                      <a:r>
                        <a:rPr/>
                        <a:t>1,516</a:t>
                      </a:r>
                    </a:p>
                  </a:txBody>
                  <a:tcPr>
                    <a:solidFill>
                      <a:srgbClr val="EEF2F7"/>
                    </a:solidFill>
                  </a:tcPr>
                </a:tc>
                <a:tc>
                  <a:txBody>
                    <a:bodyPr/>
                    <a:lstStyle/>
                    <a:p>
                      <a:pPr>
                        <a:defRPr sz="1609">
                          <a:solidFill>
                            <a:srgbClr val="44546A"/>
                          </a:solidFill>
                        </a:defRPr>
                      </a:pPr>
                      <a:r>
                        <a:rPr/>
                        <a:t>1,767</a:t>
                      </a:r>
                    </a:p>
                  </a:txBody>
                  <a:tcPr>
                    <a:solidFill>
                      <a:srgbClr val="EEF2F7"/>
                    </a:solidFill>
                  </a:tcPr>
                </a:tc>
              </a:tr>
              <a:tr h="310896">
                <a:tc>
                  <a:txBody>
                    <a:bodyPr/>
                    <a:lstStyle/>
                    <a:p>
                      <a:pPr>
                        <a:defRPr sz="1609">
                          <a:solidFill>
                            <a:srgbClr val="44546A"/>
                          </a:solidFill>
                        </a:defRPr>
                      </a:pPr>
                      <a:r>
                        <a:rPr/>
                        <a:t>2.30–2.33</a:t>
                      </a:r>
                    </a:p>
                  </a:txBody>
                  <a:tcPr>
                    <a:solidFill>
                      <a:srgbClr val="FFFFFF"/>
                    </a:solidFill>
                  </a:tcPr>
                </a:tc>
                <a:tc>
                  <a:txBody>
                    <a:bodyPr/>
                    <a:lstStyle/>
                    <a:p>
                      <a:pPr>
                        <a:defRPr sz="1609">
                          <a:solidFill>
                            <a:srgbClr val="44546A"/>
                          </a:solidFill>
                        </a:defRPr>
                      </a:pPr>
                      <a:r>
                        <a:rPr/>
                        <a:t>aoi22 / oai22 / nor3</a:t>
                      </a:r>
                    </a:p>
                  </a:txBody>
                  <a:tcPr>
                    <a:solidFill>
                      <a:srgbClr val="FFFFFF"/>
                    </a:solidFill>
                  </a:tcPr>
                </a:tc>
                <a:tc>
                  <a:txBody>
                    <a:bodyPr/>
                    <a:lstStyle/>
                    <a:p>
                      <a:pPr>
                        <a:defRPr sz="1609">
                          <a:solidFill>
                            <a:srgbClr val="44546A"/>
                          </a:solidFill>
                        </a:defRPr>
                      </a:pPr>
                      <a:r>
                        <a:rPr/>
                        <a:t>285</a:t>
                      </a:r>
                    </a:p>
                  </a:txBody>
                  <a:tcPr>
                    <a:solidFill>
                      <a:srgbClr val="FFFFFF"/>
                    </a:solidFill>
                  </a:tcPr>
                </a:tc>
                <a:tc>
                  <a:txBody>
                    <a:bodyPr/>
                    <a:lstStyle/>
                    <a:p>
                      <a:pPr>
                        <a:defRPr sz="1609">
                          <a:solidFill>
                            <a:srgbClr val="44546A"/>
                          </a:solidFill>
                        </a:defRPr>
                      </a:pPr>
                      <a:r>
                        <a:rPr/>
                        <a:t>4</a:t>
                      </a:r>
                    </a:p>
                  </a:txBody>
                  <a:tcPr>
                    <a:solidFill>
                      <a:srgbClr val="FFFFFF"/>
                    </a:solidFill>
                  </a:tcPr>
                </a:tc>
              </a:tr>
              <a:tr h="310896">
                <a:tc>
                  <a:txBody>
                    <a:bodyPr/>
                    <a:lstStyle/>
                    <a:p>
                      <a:pPr>
                        <a:defRPr sz="1609">
                          <a:solidFill>
                            <a:srgbClr val="44546A"/>
                          </a:solidFill>
                        </a:defRPr>
                      </a:pPr>
                      <a:r>
                        <a:rPr/>
                        <a:t>2.70</a:t>
                      </a:r>
                    </a:p>
                  </a:txBody>
                  <a:tcPr>
                    <a:solidFill>
                      <a:srgbClr val="EEF2F7"/>
                    </a:solidFill>
                  </a:tcPr>
                </a:tc>
                <a:tc>
                  <a:txBody>
                    <a:bodyPr/>
                    <a:lstStyle/>
                    <a:p>
                      <a:pPr>
                        <a:defRPr sz="1609">
                          <a:solidFill>
                            <a:srgbClr val="44546A"/>
                          </a:solidFill>
                        </a:defRPr>
                      </a:pPr>
                      <a:r>
                        <a:rPr/>
                        <a:t>aoi211/221/31 · oai211</a:t>
                      </a:r>
                    </a:p>
                  </a:txBody>
                  <a:tcPr>
                    <a:solidFill>
                      <a:srgbClr val="EEF2F7"/>
                    </a:solidFill>
                  </a:tcPr>
                </a:tc>
                <a:tc>
                  <a:txBody>
                    <a:bodyPr/>
                    <a:lstStyle/>
                    <a:p>
                      <a:pPr>
                        <a:defRPr sz="1609">
                          <a:solidFill>
                            <a:srgbClr val="44546A"/>
                          </a:solidFill>
                        </a:defRPr>
                      </a:pPr>
                      <a:r>
                        <a:rPr/>
                        <a:t>381</a:t>
                      </a:r>
                    </a:p>
                  </a:txBody>
                  <a:tcPr>
                    <a:solidFill>
                      <a:srgbClr val="EEF2F7"/>
                    </a:solidFill>
                  </a:tcPr>
                </a:tc>
                <a:tc>
                  <a:txBody>
                    <a:bodyPr/>
                    <a:lstStyle/>
                    <a:p>
                      <a:pPr>
                        <a:defRPr sz="1609">
                          <a:solidFill>
                            <a:srgbClr val="44546A"/>
                          </a:solidFill>
                        </a:defRPr>
                      </a:pPr>
                      <a:r>
                        <a:rPr/>
                        <a:t>332</a:t>
                      </a:r>
                    </a:p>
                  </a:txBody>
                  <a:tcPr>
                    <a:solidFill>
                      <a:srgbClr val="EEF2F7"/>
                    </a:solidFill>
                  </a:tcPr>
                </a:tc>
              </a:tr>
              <a:tr h="310896">
                <a:tc>
                  <a:txBody>
                    <a:bodyPr/>
                    <a:lstStyle/>
                    <a:p>
                      <a:pPr>
                        <a:defRPr sz="1609">
                          <a:solidFill>
                            <a:srgbClr val="44546A"/>
                          </a:solidFill>
                        </a:defRPr>
                      </a:pPr>
                      <a:r>
                        <a:rPr/>
                        <a:t>3.00</a:t>
                      </a:r>
                    </a:p>
                  </a:txBody>
                  <a:tcPr>
                    <a:solidFill>
                      <a:srgbClr val="FFFFFF"/>
                    </a:solidFill>
                  </a:tcPr>
                </a:tc>
                <a:tc>
                  <a:txBody>
                    <a:bodyPr/>
                    <a:lstStyle/>
                    <a:p>
                      <a:pPr>
                        <a:defRPr sz="1609">
                          <a:solidFill>
                            <a:srgbClr val="44546A"/>
                          </a:solidFill>
                        </a:defRPr>
                      </a:pPr>
                      <a:r>
                        <a:rPr/>
                        <a:t>aoi311 / oai311 / mux4</a:t>
                      </a:r>
                    </a:p>
                  </a:txBody>
                  <a:tcPr>
                    <a:solidFill>
                      <a:srgbClr val="FFFFFF"/>
                    </a:solidFill>
                  </a:tcPr>
                </a:tc>
                <a:tc>
                  <a:txBody>
                    <a:bodyPr/>
                    <a:lstStyle/>
                    <a:p>
                      <a:pPr>
                        <a:defRPr sz="1609">
                          <a:solidFill>
                            <a:srgbClr val="44546A"/>
                          </a:solidFill>
                        </a:defRPr>
                      </a:pPr>
                      <a:r>
                        <a:rPr/>
                        <a:t>388</a:t>
                      </a:r>
                    </a:p>
                  </a:txBody>
                  <a:tcPr>
                    <a:solidFill>
                      <a:srgbClr val="FFFFFF"/>
                    </a:solidFill>
                  </a:tcPr>
                </a:tc>
                <a:tc>
                  <a:txBody>
                    <a:bodyPr/>
                    <a:lstStyle/>
                    <a:p>
                      <a:pPr>
                        <a:defRPr sz="1609">
                          <a:solidFill>
                            <a:srgbClr val="44546A"/>
                          </a:solidFill>
                        </a:defRPr>
                      </a:pPr>
                      <a:r>
                        <a:rPr/>
                        <a:t>1</a:t>
                      </a:r>
                    </a:p>
                  </a:txBody>
                  <a:tcPr>
                    <a:solidFill>
                      <a:srgbClr val="FFFFFF"/>
                    </a:solidFill>
                  </a:tcPr>
                </a:tc>
              </a:tr>
              <a:tr h="310896">
                <a:tc>
                  <a:txBody>
                    <a:bodyPr/>
                    <a:lstStyle/>
                    <a:p>
                      <a:pPr>
                        <a:defRPr sz="1609">
                          <a:solidFill>
                            <a:srgbClr val="44546A"/>
                          </a:solidFill>
                        </a:defRPr>
                      </a:pPr>
                      <a:r>
                        <a:rPr/>
                        <a:t>3.30</a:t>
                      </a:r>
                    </a:p>
                  </a:txBody>
                  <a:tcPr>
                    <a:solidFill>
                      <a:srgbClr val="EEF2F7"/>
                    </a:solidFill>
                  </a:tcPr>
                </a:tc>
                <a:tc>
                  <a:txBody>
                    <a:bodyPr/>
                    <a:lstStyle/>
                    <a:p>
                      <a:pPr>
                        <a:defRPr sz="1609">
                          <a:solidFill>
                            <a:srgbClr val="44546A"/>
                          </a:solidFill>
                        </a:defRPr>
                      </a:pPr>
                      <a:r>
                        <a:rPr/>
                        <a:t>aoi41</a:t>
                      </a:r>
                    </a:p>
                  </a:txBody>
                  <a:tcPr>
                    <a:solidFill>
                      <a:srgbClr val="EEF2F7"/>
                    </a:solidFill>
                  </a:tcPr>
                </a:tc>
                <a:tc>
                  <a:txBody>
                    <a:bodyPr/>
                    <a:lstStyle/>
                    <a:p>
                      <a:pPr>
                        <a:defRPr sz="1609">
                          <a:solidFill>
                            <a:srgbClr val="44546A"/>
                          </a:solidFill>
                        </a:defRPr>
                      </a:pPr>
                      <a:r>
                        <a:rPr/>
                        <a:t>295</a:t>
                      </a:r>
                    </a:p>
                  </a:txBody>
                  <a:tcPr>
                    <a:solidFill>
                      <a:srgbClr val="EEF2F7"/>
                    </a:solidFill>
                  </a:tcPr>
                </a:tc>
                <a:tc>
                  <a:txBody>
                    <a:bodyPr/>
                    <a:lstStyle/>
                    <a:p>
                      <a:pPr>
                        <a:defRPr sz="1609">
                          <a:solidFill>
                            <a:srgbClr val="44546A"/>
                          </a:solidFill>
                        </a:defRPr>
                      </a:pPr>
                      <a:r>
                        <a:rPr/>
                        <a:t>0</a:t>
                      </a:r>
                    </a:p>
                  </a:txBody>
                  <a:tcPr>
                    <a:solidFill>
                      <a:srgbClr val="EEF2F7"/>
                    </a:solidFill>
                  </a:tcPr>
                </a:tc>
              </a:tr>
              <a:tr h="310896">
                <a:tc>
                  <a:txBody>
                    <a:bodyPr/>
                    <a:lstStyle/>
                    <a:p>
                      <a:pPr>
                        <a:defRPr sz="1609">
                          <a:solidFill>
                            <a:srgbClr val="44546A"/>
                          </a:solidFill>
                        </a:defRPr>
                      </a:pPr>
                      <a:r>
                        <a:rPr/>
                        <a:t>4.00</a:t>
                      </a:r>
                    </a:p>
                  </a:txBody>
                  <a:tcPr>
                    <a:solidFill>
                      <a:srgbClr val="FFFFFF"/>
                    </a:solidFill>
                  </a:tcPr>
                </a:tc>
                <a:tc>
                  <a:txBody>
                    <a:bodyPr/>
                    <a:lstStyle/>
                    <a:p>
                      <a:pPr>
                        <a:defRPr sz="1609">
                          <a:solidFill>
                            <a:srgbClr val="44546A"/>
                          </a:solidFill>
                        </a:defRPr>
                      </a:pPr>
                      <a:r>
                        <a:rPr/>
                        <a:t>xor2 / xnor2</a:t>
                      </a:r>
                    </a:p>
                  </a:txBody>
                  <a:tcPr>
                    <a:solidFill>
                      <a:srgbClr val="FFFFFF"/>
                    </a:solidFill>
                  </a:tcPr>
                </a:tc>
                <a:tc>
                  <a:txBody>
                    <a:bodyPr/>
                    <a:lstStyle/>
                    <a:p>
                      <a:pPr>
                        <a:defRPr sz="1609">
                          <a:solidFill>
                            <a:srgbClr val="44546A"/>
                          </a:solidFill>
                        </a:defRPr>
                      </a:pPr>
                      <a:r>
                        <a:rPr/>
                        <a:t>305</a:t>
                      </a:r>
                    </a:p>
                  </a:txBody>
                  <a:tcPr>
                    <a:solidFill>
                      <a:srgbClr val="FFFFFF"/>
                    </a:solidFill>
                  </a:tcPr>
                </a:tc>
                <a:tc>
                  <a:txBody>
                    <a:bodyPr/>
                    <a:lstStyle/>
                    <a:p>
                      <a:pPr>
                        <a:defRPr sz="1609">
                          <a:solidFill>
                            <a:srgbClr val="44546A"/>
                          </a:solidFill>
                        </a:defRPr>
                      </a:pPr>
                      <a:r>
                        <a:rPr/>
                        <a:t>221</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Hardware Requirements</a:t>
            </a:r>
          </a:p>
        </p:txBody>
      </p:sp>
      <p:sp>
        <p:nvSpPr>
          <p:cNvPr id="3" name="TextBox 2"/>
          <p:cNvSpPr txBox="1"/>
          <p:nvPr/>
        </p:nvSpPr>
        <p:spPr>
          <a:xfrm>
            <a:off x="548640" y="1371600"/>
            <a:ext cx="11064240" cy="5212080"/>
          </a:xfrm>
          <a:prstGeom prst="rect">
            <a:avLst/>
          </a:prstGeom>
          <a:noFill/>
        </p:spPr>
        <p:txBody>
          <a:bodyPr wrap="square">
            <a:spAutoFit/>
          </a:bodyPr>
          <a:lstStyle/>
          <a:p>
            <a:pPr>
              <a:spcAft>
                <a:spcPts val="1000"/>
              </a:spcAft>
              <a:defRPr sz="2760">
                <a:solidFill>
                  <a:srgbClr val="1F3A5F"/>
                </a:solidFill>
              </a:defRPr>
            </a:pPr>
            <a:r>
              <a:rPr/>
              <a:t>• Host: x86-64 machine running WSL2 (Ubuntu 24.04)</a:t>
            </a:r>
          </a:p>
          <a:p>
            <a:pPr>
              <a:spcAft>
                <a:spcPts val="1000"/>
              </a:spcAft>
              <a:defRPr sz="2760">
                <a:solidFill>
                  <a:srgbClr val="1F3A5F"/>
                </a:solidFill>
              </a:defRPr>
            </a:pPr>
            <a:r>
              <a:rPr/>
              <a:t>• CPU: multi-core (≥ 4 cores; place/route are largely single-thread heavy)</a:t>
            </a:r>
          </a:p>
          <a:p>
            <a:pPr>
              <a:spcAft>
                <a:spcPts val="1000"/>
              </a:spcAft>
              <a:defRPr sz="2760">
                <a:solidFill>
                  <a:srgbClr val="1F3A5F"/>
                </a:solidFill>
              </a:defRPr>
            </a:pPr>
            <a:r>
              <a:rPr/>
              <a:t>• RAM: ≥ 16 GB (recommend 32 GB); peak route/STA ~ 1–2 GB for this design</a:t>
            </a:r>
          </a:p>
          <a:p>
            <a:pPr>
              <a:spcAft>
                <a:spcPts val="1000"/>
              </a:spcAft>
              <a:defRPr sz="2760">
                <a:solidFill>
                  <a:srgbClr val="1F3A5F"/>
                </a:solidFill>
              </a:defRPr>
            </a:pPr>
            <a:r>
              <a:rPr/>
              <a:t>• Disk: ≥ 50 GB free (PDK + tools + builds; ORFS submodules &amp; sources are large)</a:t>
            </a:r>
          </a:p>
          <a:p>
            <a:pPr>
              <a:spcAft>
                <a:spcPts val="1000"/>
              </a:spcAft>
              <a:defRPr sz="2760">
                <a:solidFill>
                  <a:srgbClr val="1F3A5F"/>
                </a:solidFill>
              </a:defRPr>
            </a:pPr>
            <a:r>
              <a:rPr/>
              <a:t>• Optional: dedicated NVMe for the WSL VHD (this project used an external NVMe)</a:t>
            </a:r>
          </a:p>
          <a:p>
            <a:pPr>
              <a:spcAft>
                <a:spcPts val="1000"/>
              </a:spcAft>
              <a:defRPr sz="2760">
                <a:solidFill>
                  <a:srgbClr val="1F3A5F"/>
                </a:solidFill>
              </a:defRPr>
            </a:pPr>
            <a:r>
              <a:rPr/>
              <a:t>• No special accelerator required — a standard workstation/laptop suffices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Software Requirements (open-source)</a:t>
            </a:r>
          </a:p>
          <a:p>
            <a:pPr>
              <a:defRPr sz="1725">
                <a:solidFill>
                  <a:srgbClr val="C9D8EE"/>
                </a:solidFill>
              </a:defRPr>
            </a:pPr>
            <a:r>
              <a:rPr/>
              <a:t>100% open-source; no commercial EDA licenses</a:t>
            </a:r>
          </a:p>
        </p:txBody>
      </p:sp>
      <p:graphicFrame>
        <p:nvGraphicFramePr>
          <p:cNvPr id="3" name="Table 2"/>
          <p:cNvGraphicFramePr>
            <a:graphicFrameLocks noGrp="1"/>
          </p:cNvGraphicFramePr>
          <p:nvPr/>
        </p:nvGraphicFramePr>
        <p:xfrm>
          <a:off x="548640" y="1234440"/>
          <a:ext cx="11064240" cy="3108960"/>
        </p:xfrm>
        <a:graphic>
          <a:graphicData uri="http://schemas.openxmlformats.org/drawingml/2006/table">
            <a:tbl>
              <a:tblPr firstRow="1" bandRow="1">
                <a:tableStyleId>{5C22544A-7EE6-4342-B048-85BDC9FD1C3A}</a:tableStyleId>
              </a:tblPr>
              <a:tblGrid>
                <a:gridCol w="3017520"/>
                <a:gridCol w="8046720"/>
              </a:tblGrid>
              <a:tr h="310896">
                <a:tc>
                  <a:txBody>
                    <a:bodyPr/>
                    <a:lstStyle/>
                    <a:p>
                      <a:pPr>
                        <a:defRPr sz="1725" b="1">
                          <a:solidFill>
                            <a:srgbClr val="FFFFFF"/>
                          </a:solidFill>
                        </a:defRPr>
                      </a:pPr>
                      <a:r>
                        <a:rPr/>
                        <a:t>Layer</a:t>
                      </a:r>
                    </a:p>
                  </a:txBody>
                  <a:tcPr>
                    <a:solidFill>
                      <a:srgbClr val="1F3A5F"/>
                    </a:solidFill>
                  </a:tcPr>
                </a:tc>
                <a:tc>
                  <a:txBody>
                    <a:bodyPr/>
                    <a:lstStyle/>
                    <a:p>
                      <a:pPr>
                        <a:defRPr sz="1725" b="1">
                          <a:solidFill>
                            <a:srgbClr val="FFFFFF"/>
                          </a:solidFill>
                        </a:defRPr>
                      </a:pPr>
                      <a:r>
                        <a:rPr/>
                        <a:t>Tools / version</a:t>
                      </a:r>
                    </a:p>
                  </a:txBody>
                  <a:tcPr>
                    <a:solidFill>
                      <a:srgbClr val="1F3A5F"/>
                    </a:solidFill>
                  </a:tcPr>
                </a:tc>
              </a:tr>
              <a:tr h="310896">
                <a:tc>
                  <a:txBody>
                    <a:bodyPr/>
                    <a:lstStyle/>
                    <a:p>
                      <a:pPr>
                        <a:defRPr sz="1609">
                          <a:solidFill>
                            <a:srgbClr val="44546A"/>
                          </a:solidFill>
                        </a:defRPr>
                      </a:pPr>
                      <a:r>
                        <a:rPr/>
                        <a:t>OS</a:t>
                      </a:r>
                    </a:p>
                  </a:txBody>
                  <a:tcPr>
                    <a:solidFill>
                      <a:srgbClr val="FFFFFF"/>
                    </a:solidFill>
                  </a:tcPr>
                </a:tc>
                <a:tc>
                  <a:txBody>
                    <a:bodyPr/>
                    <a:lstStyle/>
                    <a:p>
                      <a:pPr>
                        <a:defRPr sz="1609">
                          <a:solidFill>
                            <a:srgbClr val="44546A"/>
                          </a:solidFill>
                        </a:defRPr>
                      </a:pPr>
                      <a:r>
                        <a:rPr/>
                        <a:t>WSL2 Ubuntu 24.04 LTS</a:t>
                      </a:r>
                    </a:p>
                  </a:txBody>
                  <a:tcPr>
                    <a:solidFill>
                      <a:srgbClr val="FFFFFF"/>
                    </a:solidFill>
                  </a:tcPr>
                </a:tc>
              </a:tr>
              <a:tr h="310896">
                <a:tc>
                  <a:txBody>
                    <a:bodyPr/>
                    <a:lstStyle/>
                    <a:p>
                      <a:pPr>
                        <a:defRPr sz="1609">
                          <a:solidFill>
                            <a:srgbClr val="44546A"/>
                          </a:solidFill>
                        </a:defRPr>
                      </a:pPr>
                      <a:r>
                        <a:rPr/>
                        <a:t>Synthesis</a:t>
                      </a:r>
                    </a:p>
                  </a:txBody>
                  <a:tcPr>
                    <a:solidFill>
                      <a:srgbClr val="EEF2F7"/>
                    </a:solidFill>
                  </a:tcPr>
                </a:tc>
                <a:tc>
                  <a:txBody>
                    <a:bodyPr/>
                    <a:lstStyle/>
                    <a:p>
                      <a:pPr>
                        <a:defRPr sz="1609">
                          <a:solidFill>
                            <a:srgbClr val="44546A"/>
                          </a:solidFill>
                        </a:defRPr>
                      </a:pPr>
                      <a:r>
                        <a:rPr/>
                        <a:t>Yosys ≥ 0.69 (built from source)</a:t>
                      </a:r>
                    </a:p>
                  </a:txBody>
                  <a:tcPr>
                    <a:solidFill>
                      <a:srgbClr val="EEF2F7"/>
                    </a:solidFill>
                  </a:tcPr>
                </a:tc>
              </a:tr>
              <a:tr h="310896">
                <a:tc>
                  <a:txBody>
                    <a:bodyPr/>
                    <a:lstStyle/>
                    <a:p>
                      <a:pPr>
                        <a:defRPr sz="1609">
                          <a:solidFill>
                            <a:srgbClr val="44546A"/>
                          </a:solidFill>
                        </a:defRPr>
                      </a:pPr>
                      <a:r>
                        <a:rPr/>
                        <a:t>P&amp;R + STA</a:t>
                      </a:r>
                    </a:p>
                  </a:txBody>
                  <a:tcPr>
                    <a:solidFill>
                      <a:srgbClr val="FFFFFF"/>
                    </a:solidFill>
                  </a:tcPr>
                </a:tc>
                <a:tc>
                  <a:txBody>
                    <a:bodyPr/>
                    <a:lstStyle/>
                    <a:p>
                      <a:pPr>
                        <a:defRPr sz="1609">
                          <a:solidFill>
                            <a:srgbClr val="44546A"/>
                          </a:solidFill>
                        </a:defRPr>
                      </a:pPr>
                      <a:r>
                        <a:rPr/>
                        <a:t>OpenROAD (built from source, matched to ORFS)</a:t>
                      </a:r>
                    </a:p>
                  </a:txBody>
                  <a:tcPr>
                    <a:solidFill>
                      <a:srgbClr val="FFFFFF"/>
                    </a:solidFill>
                  </a:tcPr>
                </a:tc>
              </a:tr>
              <a:tr h="310896">
                <a:tc>
                  <a:txBody>
                    <a:bodyPr/>
                    <a:lstStyle/>
                    <a:p>
                      <a:pPr>
                        <a:defRPr sz="1609">
                          <a:solidFill>
                            <a:srgbClr val="44546A"/>
                          </a:solidFill>
                        </a:defRPr>
                      </a:pPr>
                      <a:r>
                        <a:rPr/>
                        <a:t>Flow scripts</a:t>
                      </a:r>
                    </a:p>
                  </a:txBody>
                  <a:tcPr>
                    <a:solidFill>
                      <a:srgbClr val="EEF2F7"/>
                    </a:solidFill>
                  </a:tcPr>
                </a:tc>
                <a:tc>
                  <a:txBody>
                    <a:bodyPr/>
                    <a:lstStyle/>
                    <a:p>
                      <a:pPr>
                        <a:defRPr sz="1609">
                          <a:solidFill>
                            <a:srgbClr val="44546A"/>
                          </a:solidFill>
                        </a:defRPr>
                      </a:pPr>
                      <a:r>
                        <a:rPr/>
                        <a:t>OpenROAD Flow Scripts (ORFS, master)</a:t>
                      </a:r>
                    </a:p>
                  </a:txBody>
                  <a:tcPr>
                    <a:solidFill>
                      <a:srgbClr val="EEF2F7"/>
                    </a:solidFill>
                  </a:tcPr>
                </a:tc>
              </a:tr>
              <a:tr h="310896">
                <a:tc>
                  <a:txBody>
                    <a:bodyPr/>
                    <a:lstStyle/>
                    <a:p>
                      <a:pPr>
                        <a:defRPr sz="1609">
                          <a:solidFill>
                            <a:srgbClr val="44546A"/>
                          </a:solidFill>
                        </a:defRPr>
                      </a:pPr>
                      <a:r>
                        <a:rPr/>
                        <a:t>Layout / extract</a:t>
                      </a:r>
                    </a:p>
                  </a:txBody>
                  <a:tcPr>
                    <a:solidFill>
                      <a:srgbClr val="FFFFFF"/>
                    </a:solidFill>
                  </a:tcPr>
                </a:tc>
                <a:tc>
                  <a:txBody>
                    <a:bodyPr/>
                    <a:lstStyle/>
                    <a:p>
                      <a:pPr>
                        <a:defRPr sz="1609">
                          <a:solidFill>
                            <a:srgbClr val="44546A"/>
                          </a:solidFill>
                        </a:defRPr>
                      </a:pPr>
                      <a:r>
                        <a:rPr/>
                        <a:t>Magic 8.3 (build), netgen 1.5 (apt)</a:t>
                      </a:r>
                    </a:p>
                  </a:txBody>
                  <a:tcPr>
                    <a:solidFill>
                      <a:srgbClr val="FFFFFF"/>
                    </a:solidFill>
                  </a:tcPr>
                </a:tc>
              </a:tr>
              <a:tr h="310896">
                <a:tc>
                  <a:txBody>
                    <a:bodyPr/>
                    <a:lstStyle/>
                    <a:p>
                      <a:pPr>
                        <a:defRPr sz="1609">
                          <a:solidFill>
                            <a:srgbClr val="44546A"/>
                          </a:solidFill>
                        </a:defRPr>
                      </a:pPr>
                      <a:r>
                        <a:rPr/>
                        <a:t>DRC / LVS / view</a:t>
                      </a:r>
                    </a:p>
                  </a:txBody>
                  <a:tcPr>
                    <a:solidFill>
                      <a:srgbClr val="EEF2F7"/>
                    </a:solidFill>
                  </a:tcPr>
                </a:tc>
                <a:tc>
                  <a:txBody>
                    <a:bodyPr/>
                    <a:lstStyle/>
                    <a:p>
                      <a:pPr>
                        <a:defRPr sz="1609">
                          <a:solidFill>
                            <a:srgbClr val="44546A"/>
                          </a:solidFill>
                        </a:defRPr>
                      </a:pPr>
                      <a:r>
                        <a:rPr/>
                        <a:t>KLayout 0.28</a:t>
                      </a:r>
                    </a:p>
                  </a:txBody>
                  <a:tcPr>
                    <a:solidFill>
                      <a:srgbClr val="EEF2F7"/>
                    </a:solidFill>
                  </a:tcPr>
                </a:tc>
              </a:tr>
              <a:tr h="310896">
                <a:tc>
                  <a:txBody>
                    <a:bodyPr/>
                    <a:lstStyle/>
                    <a:p>
                      <a:pPr>
                        <a:defRPr sz="1609">
                          <a:solidFill>
                            <a:srgbClr val="44546A"/>
                          </a:solidFill>
                        </a:defRPr>
                      </a:pPr>
                      <a:r>
                        <a:rPr/>
                        <a:t>Formal LEC</a:t>
                      </a:r>
                    </a:p>
                  </a:txBody>
                  <a:tcPr>
                    <a:solidFill>
                      <a:srgbClr val="FFFFFF"/>
                    </a:solidFill>
                  </a:tcPr>
                </a:tc>
                <a:tc>
                  <a:txBody>
                    <a:bodyPr/>
                    <a:lstStyle/>
                    <a:p>
                      <a:pPr>
                        <a:defRPr sz="1609">
                          <a:solidFill>
                            <a:srgbClr val="44546A"/>
                          </a:solidFill>
                        </a:defRPr>
                      </a:pPr>
                      <a:r>
                        <a:rPr/>
                        <a:t>Kepler Formal (built from source)</a:t>
                      </a:r>
                    </a:p>
                  </a:txBody>
                  <a:tcPr>
                    <a:solidFill>
                      <a:srgbClr val="FFFFFF"/>
                    </a:solidFill>
                  </a:tcPr>
                </a:tc>
              </a:tr>
              <a:tr h="310896">
                <a:tc>
                  <a:txBody>
                    <a:bodyPr/>
                    <a:lstStyle/>
                    <a:p>
                      <a:pPr>
                        <a:defRPr sz="1609">
                          <a:solidFill>
                            <a:srgbClr val="44546A"/>
                          </a:solidFill>
                        </a:defRPr>
                      </a:pPr>
                      <a:r>
                        <a:rPr/>
                        <a:t>PDK</a:t>
                      </a:r>
                    </a:p>
                  </a:txBody>
                  <a:tcPr>
                    <a:solidFill>
                      <a:srgbClr val="EEF2F7"/>
                    </a:solidFill>
                  </a:tcPr>
                </a:tc>
                <a:tc>
                  <a:txBody>
                    <a:bodyPr/>
                    <a:lstStyle/>
                    <a:p>
                      <a:pPr>
                        <a:defRPr sz="1609">
                          <a:solidFill>
                            <a:srgbClr val="44546A"/>
                          </a:solidFill>
                        </a:defRPr>
                      </a:pPr>
                      <a:r>
                        <a:rPr/>
                        <a:t>sky130A (open_pdks, sky130_fd_sc_hd)</a:t>
                      </a:r>
                    </a:p>
                  </a:txBody>
                  <a:tcPr>
                    <a:solidFill>
                      <a:srgbClr val="EEF2F7"/>
                    </a:solidFill>
                  </a:tcPr>
                </a:tc>
              </a:tr>
              <a:tr h="310896">
                <a:tc>
                  <a:txBody>
                    <a:bodyPr/>
                    <a:lstStyle/>
                    <a:p>
                      <a:pPr>
                        <a:defRPr sz="1609">
                          <a:solidFill>
                            <a:srgbClr val="44546A"/>
                          </a:solidFill>
                        </a:defRPr>
                      </a:pPr>
                      <a:r>
                        <a:rPr/>
                        <a:t>AI / scripting</a:t>
                      </a:r>
                    </a:p>
                  </a:txBody>
                  <a:tcPr>
                    <a:solidFill>
                      <a:srgbClr val="FFFFFF"/>
                    </a:solidFill>
                  </a:tcPr>
                </a:tc>
                <a:tc>
                  <a:txBody>
                    <a:bodyPr/>
                    <a:lstStyle/>
                    <a:p>
                      <a:pPr>
                        <a:defRPr sz="1609">
                          <a:solidFill>
                            <a:srgbClr val="44546A"/>
                          </a:solidFill>
                        </a:defRPr>
                      </a:pPr>
                      <a:r>
                        <a:rPr/>
                        <a:t>opencode AI agent, Python 3 + openpyxl / python-pptx</a:t>
                      </a:r>
                    </a:p>
                  </a:txBody>
                  <a:tcP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Project Effort — AI Agent vs. Engineer From Scratch</a:t>
            </a:r>
          </a:p>
          <a:p>
            <a:pPr>
              <a:defRPr sz="1725">
                <a:solidFill>
                  <a:srgbClr val="C9D8EE"/>
                </a:solidFill>
              </a:defRPr>
            </a:pPr>
            <a:r>
              <a:rPr/>
              <a:t>measured opencode session telemetry vs. from-scratch engineering estimate</a:t>
            </a:r>
          </a:p>
        </p:txBody>
      </p:sp>
      <p:graphicFrame>
        <p:nvGraphicFramePr>
          <p:cNvPr id="3" name="Table 2"/>
          <p:cNvGraphicFramePr>
            <a:graphicFrameLocks noGrp="1"/>
          </p:cNvGraphicFramePr>
          <p:nvPr/>
        </p:nvGraphicFramePr>
        <p:xfrm>
          <a:off x="457200" y="1280160"/>
          <a:ext cx="11247120" cy="2798064"/>
        </p:xfrm>
        <a:graphic>
          <a:graphicData uri="http://schemas.openxmlformats.org/drawingml/2006/table">
            <a:tbl>
              <a:tblPr firstRow="1" bandRow="1">
                <a:tableStyleId>{5C22544A-7EE6-4342-B048-85BDC9FD1C3A}</a:tableStyleId>
              </a:tblPr>
              <a:tblGrid>
                <a:gridCol w="2926080"/>
                <a:gridCol w="4389120"/>
                <a:gridCol w="3931920"/>
              </a:tblGrid>
              <a:tr h="310896">
                <a:tc>
                  <a:txBody>
                    <a:bodyPr/>
                    <a:lstStyle/>
                    <a:p>
                      <a:pPr>
                        <a:defRPr sz="1725" b="1">
                          <a:solidFill>
                            <a:srgbClr val="FFFFFF"/>
                          </a:solidFill>
                        </a:defRPr>
                      </a:pPr>
                      <a:r>
                        <a:rPr/>
                        <a:t>Metric</a:t>
                      </a:r>
                    </a:p>
                  </a:txBody>
                  <a:tcPr>
                    <a:solidFill>
                      <a:srgbClr val="1F3A5F"/>
                    </a:solidFill>
                  </a:tcPr>
                </a:tc>
                <a:tc>
                  <a:txBody>
                    <a:bodyPr/>
                    <a:lstStyle/>
                    <a:p>
                      <a:pPr>
                        <a:defRPr sz="1725" b="1">
                          <a:solidFill>
                            <a:srgbClr val="FFFFFF"/>
                          </a:solidFill>
                        </a:defRPr>
                      </a:pPr>
                      <a:r>
                        <a:rPr/>
                        <a:t>AI agent (measured)</a:t>
                      </a:r>
                    </a:p>
                  </a:txBody>
                  <a:tcPr>
                    <a:solidFill>
                      <a:srgbClr val="1F3A5F"/>
                    </a:solidFill>
                  </a:tcPr>
                </a:tc>
                <a:tc>
                  <a:txBody>
                    <a:bodyPr/>
                    <a:lstStyle/>
                    <a:p>
                      <a:pPr>
                        <a:defRPr sz="1725" b="1">
                          <a:solidFill>
                            <a:srgbClr val="FFFFFF"/>
                          </a:solidFill>
                        </a:defRPr>
                      </a:pPr>
                      <a:r>
                        <a:rPr/>
                        <a:t>Engineer (estimated)</a:t>
                      </a:r>
                    </a:p>
                  </a:txBody>
                  <a:tcPr>
                    <a:solidFill>
                      <a:srgbClr val="1F3A5F"/>
                    </a:solidFill>
                  </a:tcPr>
                </a:tc>
              </a:tr>
              <a:tr h="310896">
                <a:tc>
                  <a:txBody>
                    <a:bodyPr/>
                    <a:lstStyle/>
                    <a:p>
                      <a:pPr>
                        <a:defRPr sz="1609">
                          <a:solidFill>
                            <a:srgbClr val="44546A"/>
                          </a:solidFill>
                        </a:defRPr>
                      </a:pPr>
                      <a:r>
                        <a:rPr/>
                        <a:t>Calendar span</a:t>
                      </a:r>
                    </a:p>
                  </a:txBody>
                  <a:tcPr>
                    <a:solidFill>
                      <a:srgbClr val="FFFFFF"/>
                    </a:solidFill>
                  </a:tcPr>
                </a:tc>
                <a:tc>
                  <a:txBody>
                    <a:bodyPr/>
                    <a:lstStyle/>
                    <a:p>
                      <a:pPr>
                        <a:defRPr sz="1609">
                          <a:solidFill>
                            <a:srgbClr val="44546A"/>
                          </a:solidFill>
                        </a:defRPr>
                      </a:pPr>
                      <a:r>
                        <a:rPr/>
                        <a:t>35 days (interactive)</a:t>
                      </a:r>
                    </a:p>
                  </a:txBody>
                  <a:tcPr>
                    <a:solidFill>
                      <a:srgbClr val="FFFFFF"/>
                    </a:solidFill>
                  </a:tcPr>
                </a:tc>
                <a:tc>
                  <a:txBody>
                    <a:bodyPr/>
                    <a:lstStyle/>
                    <a:p>
                      <a:pPr>
                        <a:defRPr sz="1609">
                          <a:solidFill>
                            <a:srgbClr val="44546A"/>
                          </a:solidFill>
                        </a:defRPr>
                      </a:pPr>
                      <a:r>
                        <a:rPr/>
                        <a:t>8–15 weeks</a:t>
                      </a:r>
                    </a:p>
                  </a:txBody>
                  <a:tcPr>
                    <a:solidFill>
                      <a:srgbClr val="FFFFFF"/>
                    </a:solidFill>
                  </a:tcPr>
                </a:tc>
              </a:tr>
              <a:tr h="310896">
                <a:tc>
                  <a:txBody>
                    <a:bodyPr/>
                    <a:lstStyle/>
                    <a:p>
                      <a:pPr>
                        <a:defRPr sz="1609">
                          <a:solidFill>
                            <a:srgbClr val="44546A"/>
                          </a:solidFill>
                        </a:defRPr>
                      </a:pPr>
                      <a:r>
                        <a:rPr/>
                        <a:t>Active work time</a:t>
                      </a:r>
                    </a:p>
                  </a:txBody>
                  <a:tcPr>
                    <a:solidFill>
                      <a:srgbClr val="EEF2F7"/>
                    </a:solidFill>
                  </a:tcPr>
                </a:tc>
                <a:tc>
                  <a:txBody>
                    <a:bodyPr/>
                    <a:lstStyle/>
                    <a:p>
                      <a:pPr>
                        <a:defRPr sz="1609">
                          <a:solidFill>
                            <a:srgbClr val="44546A"/>
                          </a:solidFill>
                        </a:defRPr>
                      </a:pPr>
                      <a:r>
                        <a:rPr/>
                        <a:t>47.5 h (≈ 2.0 days)</a:t>
                      </a:r>
                    </a:p>
                  </a:txBody>
                  <a:tcPr>
                    <a:solidFill>
                      <a:srgbClr val="EEF2F7"/>
                    </a:solidFill>
                  </a:tcPr>
                </a:tc>
                <a:tc>
                  <a:txBody>
                    <a:bodyPr/>
                    <a:lstStyle/>
                    <a:p>
                      <a:pPr>
                        <a:defRPr sz="1609">
                          <a:solidFill>
                            <a:srgbClr val="44546A"/>
                          </a:solidFill>
                        </a:defRPr>
                      </a:pPr>
                      <a:r>
                        <a:rPr/>
                        <a:t>38–75 person-days</a:t>
                      </a:r>
                    </a:p>
                  </a:txBody>
                  <a:tcPr>
                    <a:solidFill>
                      <a:srgbClr val="EEF2F7"/>
                    </a:solidFill>
                  </a:tcPr>
                </a:tc>
              </a:tr>
              <a:tr h="310896">
                <a:tc>
                  <a:txBody>
                    <a:bodyPr/>
                    <a:lstStyle/>
                    <a:p>
                      <a:pPr>
                        <a:defRPr sz="1609">
                          <a:solidFill>
                            <a:srgbClr val="44546A"/>
                          </a:solidFill>
                        </a:defRPr>
                      </a:pPr>
                      <a:r>
                        <a:rPr/>
                        <a:t>Prompts / tool calls</a:t>
                      </a:r>
                    </a:p>
                  </a:txBody>
                  <a:tcPr>
                    <a:solidFill>
                      <a:srgbClr val="FFFFFF"/>
                    </a:solidFill>
                  </a:tcPr>
                </a:tc>
                <a:tc>
                  <a:txBody>
                    <a:bodyPr/>
                    <a:lstStyle/>
                    <a:p>
                      <a:pPr>
                        <a:defRPr sz="1609">
                          <a:solidFill>
                            <a:srgbClr val="44546A"/>
                          </a:solidFill>
                        </a:defRPr>
                      </a:pPr>
                      <a:r>
                        <a:rPr/>
                        <a:t>120 / 1,429</a:t>
                      </a:r>
                    </a:p>
                  </a:txBody>
                  <a:tcPr>
                    <a:solidFill>
                      <a:srgbClr val="FFFFFF"/>
                    </a:solidFill>
                  </a:tcPr>
                </a:tc>
                <a:tc>
                  <a:txBody>
                    <a:bodyPr/>
                    <a:lstStyle/>
                    <a:p>
                      <a:pPr>
                        <a:defRPr sz="1609">
                          <a:solidFill>
                            <a:srgbClr val="44546A"/>
                          </a:solidFill>
                        </a:defRPr>
                      </a:pPr>
                      <a:r>
                        <a:rPr/>
                        <a:t>n/a</a:t>
                      </a:r>
                    </a:p>
                  </a:txBody>
                  <a:tcPr>
                    <a:solidFill>
                      <a:srgbClr val="FFFFFF"/>
                    </a:solidFill>
                  </a:tcPr>
                </a:tc>
              </a:tr>
              <a:tr h="310896">
                <a:tc>
                  <a:txBody>
                    <a:bodyPr/>
                    <a:lstStyle/>
                    <a:p>
                      <a:pPr>
                        <a:defRPr sz="1609">
                          <a:solidFill>
                            <a:srgbClr val="44546A"/>
                          </a:solidFill>
                        </a:defRPr>
                      </a:pPr>
                      <a:r>
                        <a:rPr/>
                        <a:t>Tokens in / out / reasoning</a:t>
                      </a:r>
                    </a:p>
                  </a:txBody>
                  <a:tcPr>
                    <a:solidFill>
                      <a:srgbClr val="EEF2F7"/>
                    </a:solidFill>
                  </a:tcPr>
                </a:tc>
                <a:tc>
                  <a:txBody>
                    <a:bodyPr/>
                    <a:lstStyle/>
                    <a:p>
                      <a:pPr>
                        <a:defRPr sz="1609">
                          <a:solidFill>
                            <a:srgbClr val="44546A"/>
                          </a:solidFill>
                        </a:defRPr>
                      </a:pPr>
                      <a:r>
                        <a:rPr/>
                        <a:t>9.3 M / 0.45 M / 0.91 M</a:t>
                      </a:r>
                    </a:p>
                  </a:txBody>
                  <a:tcPr>
                    <a:solidFill>
                      <a:srgbClr val="EEF2F7"/>
                    </a:solidFill>
                  </a:tcPr>
                </a:tc>
                <a:tc>
                  <a:txBody>
                    <a:bodyPr/>
                    <a:lstStyle/>
                    <a:p>
                      <a:pPr>
                        <a:defRPr sz="1609">
                          <a:solidFill>
                            <a:srgbClr val="44546A"/>
                          </a:solidFill>
                        </a:defRPr>
                      </a:pPr>
                      <a:r>
                        <a:rPr/>
                        <a:t>n/a</a:t>
                      </a:r>
                    </a:p>
                  </a:txBody>
                  <a:tcPr>
                    <a:solidFill>
                      <a:srgbClr val="EEF2F7"/>
                    </a:solidFill>
                  </a:tcPr>
                </a:tc>
              </a:tr>
              <a:tr h="310896">
                <a:tc>
                  <a:txBody>
                    <a:bodyPr/>
                    <a:lstStyle/>
                    <a:p>
                      <a:pPr>
                        <a:defRPr sz="1609">
                          <a:solidFill>
                            <a:srgbClr val="44546A"/>
                          </a:solidFill>
                        </a:defRPr>
                      </a:pPr>
                      <a:r>
                        <a:rPr/>
                        <a:t>Total tokens (all sessions)</a:t>
                      </a:r>
                    </a:p>
                  </a:txBody>
                  <a:tcPr>
                    <a:solidFill>
                      <a:srgbClr val="FFFFFF"/>
                    </a:solidFill>
                  </a:tcPr>
                </a:tc>
                <a:tc>
                  <a:txBody>
                    <a:bodyPr/>
                    <a:lstStyle/>
                    <a:p>
                      <a:pPr>
                        <a:defRPr sz="1609">
                          <a:solidFill>
                            <a:srgbClr val="44546A"/>
                          </a:solidFill>
                        </a:defRPr>
                      </a:pPr>
                      <a:r>
                        <a:rPr/>
                        <a:t>≈ 12.2 M</a:t>
                      </a:r>
                    </a:p>
                  </a:txBody>
                  <a:tcPr>
                    <a:solidFill>
                      <a:srgbClr val="FFFFFF"/>
                    </a:solidFill>
                  </a:tcPr>
                </a:tc>
                <a:tc>
                  <a:txBody>
                    <a:bodyPr/>
                    <a:lstStyle/>
                    <a:p>
                      <a:pPr>
                        <a:defRPr sz="1609">
                          <a:solidFill>
                            <a:srgbClr val="44546A"/>
                          </a:solidFill>
                        </a:defRPr>
                      </a:pPr>
                      <a:r>
                        <a:rPr/>
                        <a:t>n/a</a:t>
                      </a:r>
                    </a:p>
                  </a:txBody>
                  <a:tcPr>
                    <a:solidFill>
                      <a:srgbClr val="FFFFFF"/>
                    </a:solidFill>
                  </a:tcPr>
                </a:tc>
              </a:tr>
              <a:tr h="310896">
                <a:tc>
                  <a:txBody>
                    <a:bodyPr/>
                    <a:lstStyle/>
                    <a:p>
                      <a:pPr>
                        <a:defRPr sz="1609">
                          <a:solidFill>
                            <a:srgbClr val="44546A"/>
                          </a:solidFill>
                        </a:defRPr>
                      </a:pPr>
                      <a:r>
                        <a:rPr/>
                        <a:t>Cache-read tokens</a:t>
                      </a:r>
                    </a:p>
                  </a:txBody>
                  <a:tcPr>
                    <a:solidFill>
                      <a:srgbClr val="EEF2F7"/>
                    </a:solidFill>
                  </a:tcPr>
                </a:tc>
                <a:tc>
                  <a:txBody>
                    <a:bodyPr/>
                    <a:lstStyle/>
                    <a:p>
                      <a:pPr>
                        <a:defRPr sz="1609">
                          <a:solidFill>
                            <a:srgbClr val="44546A"/>
                          </a:solidFill>
                        </a:defRPr>
                      </a:pPr>
                      <a:r>
                        <a:rPr/>
                        <a:t>623 M</a:t>
                      </a:r>
                    </a:p>
                  </a:txBody>
                  <a:tcPr>
                    <a:solidFill>
                      <a:srgbClr val="EEF2F7"/>
                    </a:solidFill>
                  </a:tcPr>
                </a:tc>
                <a:tc>
                  <a:txBody>
                    <a:bodyPr/>
                    <a:lstStyle/>
                    <a:p>
                      <a:pPr>
                        <a:defRPr sz="1609">
                          <a:solidFill>
                            <a:srgbClr val="44546A"/>
                          </a:solidFill>
                        </a:defRPr>
                      </a:pPr>
                      <a:r>
                        <a:rPr/>
                        <a:t>n/a</a:t>
                      </a:r>
                    </a:p>
                  </a:txBody>
                  <a:tcPr>
                    <a:solidFill>
                      <a:srgbClr val="EEF2F7"/>
                    </a:solidFill>
                  </a:tcPr>
                </a:tc>
              </a:tr>
              <a:tr h="310896">
                <a:tc>
                  <a:txBody>
                    <a:bodyPr/>
                    <a:lstStyle/>
                    <a:p>
                      <a:pPr>
                        <a:defRPr sz="1609">
                          <a:solidFill>
                            <a:srgbClr val="44546A"/>
                          </a:solidFill>
                        </a:defRPr>
                      </a:pPr>
                      <a:r>
                        <a:rPr/>
                        <a:t>Cost</a:t>
                      </a:r>
                    </a:p>
                  </a:txBody>
                  <a:tcPr>
                    <a:solidFill>
                      <a:srgbClr val="FFFFFF"/>
                    </a:solidFill>
                  </a:tcPr>
                </a:tc>
                <a:tc>
                  <a:txBody>
                    <a:bodyPr/>
                    <a:lstStyle/>
                    <a:p>
                      <a:pPr>
                        <a:defRPr sz="1609">
                          <a:solidFill>
                            <a:srgbClr val="44546A"/>
                          </a:solidFill>
                        </a:defRPr>
                      </a:pPr>
                      <a:r>
                        <a:rPr/>
                        <a:t>≈ $4.3 (API tokens)</a:t>
                      </a:r>
                    </a:p>
                  </a:txBody>
                  <a:tcPr>
                    <a:solidFill>
                      <a:srgbClr val="FFFFFF"/>
                    </a:solidFill>
                  </a:tcPr>
                </a:tc>
                <a:tc>
                  <a:txBody>
                    <a:bodyPr/>
                    <a:lstStyle/>
                    <a:p>
                      <a:pPr>
                        <a:defRPr sz="1609">
                          <a:solidFill>
                            <a:srgbClr val="44546A"/>
                          </a:solidFill>
                        </a:defRPr>
                      </a:pPr>
                      <a:r>
                        <a:rPr/>
                        <a:t>≈ $100k+ (loaded salary)</a:t>
                      </a:r>
                    </a:p>
                  </a:txBody>
                  <a:tcPr>
                    <a:solidFill>
                      <a:srgbClr val="FFFFFF"/>
                    </a:solidFill>
                  </a:tcPr>
                </a:tc>
              </a:tr>
              <a:tr h="310896">
                <a:tc>
                  <a:txBody>
                    <a:bodyPr/>
                    <a:lstStyle/>
                    <a:p>
                      <a:pPr>
                        <a:defRPr sz="1609">
                          <a:solidFill>
                            <a:srgbClr val="44546A"/>
                          </a:solidFill>
                        </a:defRPr>
                      </a:pPr>
                      <a:r>
                        <a:rPr/>
                        <a:t>Deliverables</a:t>
                      </a:r>
                    </a:p>
                  </a:txBody>
                  <a:tcPr>
                    <a:solidFill>
                      <a:srgbClr val="EEF2F7"/>
                    </a:solidFill>
                  </a:tcPr>
                </a:tc>
                <a:tc>
                  <a:txBody>
                    <a:bodyPr/>
                    <a:lstStyle/>
                    <a:p>
                      <a:pPr>
                        <a:defRPr sz="1609">
                          <a:solidFill>
                            <a:srgbClr val="44546A"/>
                          </a:solidFill>
                        </a:defRPr>
                      </a:pPr>
                      <a:r>
                        <a:rPr/>
                        <a:t>RTL→GDS, DRC/LVS/LEC clean, PPA sweep, sim, paper + deck</a:t>
                      </a:r>
                    </a:p>
                  </a:txBody>
                  <a:tcPr>
                    <a:solidFill>
                      <a:srgbClr val="EEF2F7"/>
                    </a:solidFill>
                  </a:tcPr>
                </a:tc>
                <a:tc>
                  <a:txBody>
                    <a:bodyPr/>
                    <a:lstStyle/>
                    <a:p>
                      <a:pPr>
                        <a:defRPr sz="1609">
                          <a:solidFill>
                            <a:srgbClr val="44546A"/>
                          </a:solidFill>
                        </a:defRPr>
                      </a:pPr>
                      <a:r>
                        <a:rPr/>
                        <a:t>same</a:t>
                      </a:r>
                    </a:p>
                  </a:txBody>
                  <a:tcPr>
                    <a:solidFill>
                      <a:srgbClr val="EEF2F7"/>
                    </a:solidFill>
                  </a:tcPr>
                </a:tc>
              </a:tr>
            </a:tbl>
          </a:graphicData>
        </a:graphic>
      </p:graphicFrame>
      <p:sp>
        <p:nvSpPr>
          <p:cNvPr id="4" name="TextBox 3"/>
          <p:cNvSpPr txBox="1"/>
          <p:nvPr/>
        </p:nvSpPr>
        <p:spPr>
          <a:xfrm>
            <a:off x="502920" y="4572000"/>
            <a:ext cx="11155680" cy="2103120"/>
          </a:xfrm>
          <a:prstGeom prst="rect">
            <a:avLst/>
          </a:prstGeom>
          <a:noFill/>
        </p:spPr>
        <p:txBody>
          <a:bodyPr wrap="square">
            <a:spAutoFit/>
          </a:bodyPr>
          <a:lstStyle/>
          <a:p>
            <a:pPr>
              <a:spcAft>
                <a:spcPts val="700"/>
              </a:spcAft>
              <a:defRPr sz="1725">
                <a:solidFill>
                  <a:srgbClr val="1F3A5F"/>
                </a:solidFill>
              </a:defRPr>
            </a:pPr>
            <a:r>
              <a:rPr/>
              <a:t>• Work packages: toolchain build (Yosys, OpenROAD, Magic, netgen, KLayout, Kepler, sky130 PDK, ORFS) · RTL→GDS flow · DRC + LVS · LEC · timing closure + PPA sweep · critical-path &amp; logical-effort analysis · simulation (golden ISS, pre/post/SDF) · paper + deck.</a:t>
            </a:r>
          </a:p>
          <a:p>
            <a:pPr>
              <a:spcAft>
                <a:spcPts val="700"/>
              </a:spcAft>
              <a:defRPr sz="1725">
                <a:solidFill>
                  <a:srgbClr val="1F3A5F"/>
                </a:solidFill>
              </a:defRPr>
            </a:pPr>
            <a:r>
              <a:rPr/>
              <a:t>• Engineer estimate by package: toolchain 8–15 d, RTL→GDS 4–8 d, DRC/LVS 5–10 d, LEC 3–6 d, timing+PPA 5–10 d, analysis 4–8 d, simulation 4–8 d, paper/deck 5–10 d.</a:t>
            </a:r>
          </a:p>
          <a:p>
            <a:pPr>
              <a:spcAft>
                <a:spcPts val="700"/>
              </a:spcAft>
              <a:defRPr sz="1725">
                <a:solidFill>
                  <a:srgbClr val="1F3A5F"/>
                </a:solidFill>
              </a:defRPr>
            </a:pPr>
            <a:r>
              <a:rPr/>
              <a:t>• Takeaway: ≈ 2 active AI-days vs ≈ 2–3½ months solo (1–2 months small team), for ≈ $4.3 in tokens.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Conclusions</a:t>
            </a:r>
          </a:p>
        </p:txBody>
      </p:sp>
      <p:sp>
        <p:nvSpPr>
          <p:cNvPr id="3" name="TextBox 2"/>
          <p:cNvSpPr txBox="1"/>
          <p:nvPr/>
        </p:nvSpPr>
        <p:spPr>
          <a:xfrm>
            <a:off x="548640" y="1371600"/>
            <a:ext cx="11064240" cy="5212080"/>
          </a:xfrm>
          <a:prstGeom prst="rect">
            <a:avLst/>
          </a:prstGeom>
          <a:noFill/>
        </p:spPr>
        <p:txBody>
          <a:bodyPr wrap="square">
            <a:spAutoFit/>
          </a:bodyPr>
          <a:lstStyle/>
          <a:p>
            <a:pPr>
              <a:spcAft>
                <a:spcPts val="1000"/>
              </a:spcAft>
              <a:defRPr sz="2415">
                <a:solidFill>
                  <a:srgbClr val="1F3A5F"/>
                </a:solidFill>
              </a:defRPr>
            </a:pPr>
            <a:r>
              <a:rPr/>
              <a:t>• A complete open-source RTL→GDS flow for an RV32I core was built and sign-off clean (DRC 0, LVS match, LEC proven)</a:t>
            </a:r>
          </a:p>
          <a:p>
            <a:pPr>
              <a:spcAft>
                <a:spcPts val="1000"/>
              </a:spcAft>
              <a:defRPr sz="2415">
                <a:solidFill>
                  <a:srgbClr val="1F3A5F"/>
                </a:solidFill>
              </a:defRPr>
            </a:pPr>
            <a:r>
              <a:rPr/>
              <a:t>• AI orchestration covered toolchain bring-up, version matching, debugging, dashboards and goal-directed studies</a:t>
            </a:r>
          </a:p>
          <a:p>
            <a:pPr>
              <a:spcAft>
                <a:spcPts val="1000"/>
              </a:spcAft>
              <a:defRPr sz="2415">
                <a:solidFill>
                  <a:srgbClr val="1F3A5F"/>
                </a:solidFill>
              </a:defRPr>
            </a:pPr>
            <a:r>
              <a:rPr/>
              <a:t>• Baseline closes timing at 7.0 ns (147.9 MHz, 19.7 mW)</a:t>
            </a:r>
          </a:p>
          <a:p>
            <a:pPr>
              <a:spcAft>
                <a:spcPts val="1000"/>
              </a:spcAft>
              <a:defRPr sz="2415">
                <a:solidFill>
                  <a:srgbClr val="1F3A5F"/>
                </a:solidFill>
              </a:defRPr>
            </a:pPr>
            <a:r>
              <a:rPr/>
              <a:t>• 200 MHz is unreachable without RTL pipelining — best is 153.4 MHz</a:t>
            </a:r>
          </a:p>
          <a:p>
            <a:pPr>
              <a:spcAft>
                <a:spcPts val="1000"/>
              </a:spcAft>
              <a:defRPr sz="2415">
                <a:solidFill>
                  <a:srgbClr val="1F3A5F"/>
                </a:solidFill>
              </a:defRPr>
            </a:pPr>
            <a:r>
              <a:rPr/>
              <a:t>• Power-optimized (area-mapped) synthesis cuts per-cycle energy ~5% (18.7 mW @142.9 MHz equiv.) and raises fmax to 155 MHz</a:t>
            </a:r>
          </a:p>
          <a:p>
            <a:pPr>
              <a:spcAft>
                <a:spcPts val="1000"/>
              </a:spcAft>
              <a:defRPr sz="2415">
                <a:solidFill>
                  <a:srgbClr val="1F3A5F"/>
                </a:solidFill>
              </a:defRPr>
            </a:pPr>
            <a:r>
              <a:rPr/>
              <a:t>• The design is cell-delay dominated; wire delay &lt; 0.02 ns per path — not wire-limited</a:t>
            </a:r>
          </a:p>
          <a:p>
            <a:pPr>
              <a:spcAft>
                <a:spcPts val="1000"/>
              </a:spcAft>
              <a:defRPr sz="2415">
                <a:solidFill>
                  <a:srgbClr val="1F3A5F"/>
                </a:solidFill>
              </a:defRPr>
            </a:pPr>
            <a:r>
              <a:rPr/>
              <a:t>• Next steps: pipelined microarchitecture to reach 200 MHz+; SRAM macro for the memories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78992"/>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lIns="457200"/>
          <a:lstStyle/>
          <a:p>
            <a:pPr algn="ctr">
              <a:defRPr sz="3219" b="1">
                <a:solidFill>
                  <a:srgbClr val="FFFFFF"/>
                </a:solidFill>
              </a:defRPr>
            </a:pPr>
            <a:r>
              <a:rPr/>
              <a:t>Acknowledgements</a:t>
            </a:r>
          </a:p>
          <a:p>
            <a:pPr>
              <a:defRPr sz="1725">
                <a:solidFill>
                  <a:srgbClr val="C9D8EE"/>
                </a:solidFill>
              </a:defRPr>
            </a:pPr>
            <a:r>
              <a:rPr/>
              <a:t>thanks to the open-source tool, PDK and research communities</a:t>
            </a:r>
          </a:p>
        </p:txBody>
      </p:sp>
      <p:sp>
        <p:nvSpPr>
          <p:cNvPr id="3" name="TextBox 2"/>
          <p:cNvSpPr txBox="1"/>
          <p:nvPr/>
        </p:nvSpPr>
        <p:spPr>
          <a:xfrm>
            <a:off x="548640" y="1371600"/>
            <a:ext cx="11064240" cy="5212080"/>
          </a:xfrm>
          <a:prstGeom prst="rect">
            <a:avLst/>
          </a:prstGeom>
          <a:noFill/>
        </p:spPr>
        <p:txBody>
          <a:bodyPr wrap="square">
            <a:spAutoFit/>
          </a:bodyPr>
          <a:lstStyle/>
          <a:p>
            <a:pPr>
              <a:spcAft>
                <a:spcPts val="1000"/>
              </a:spcAft>
              <a:defRPr sz="2185">
                <a:solidFill>
                  <a:srgbClr val="1F3A5F"/>
                </a:solidFill>
              </a:defRPr>
            </a:pPr>
            <a:r>
              <a:rPr/>
              <a:t>• OpenROAD + OpenROAD Flow Scripts — the open-source RTL→GDS flow and STA.</a:t>
            </a:r>
          </a:p>
          <a:p>
            <a:pPr>
              <a:spcAft>
                <a:spcPts val="1000"/>
              </a:spcAft>
              <a:defRPr sz="2185">
                <a:solidFill>
                  <a:srgbClr val="1F3A5F"/>
                </a:solidFill>
              </a:defRPr>
            </a:pPr>
            <a:r>
              <a:rPr/>
              <a:t>• Yosys — open-source synthesis and formal equivalence (equiv_*).</a:t>
            </a:r>
          </a:p>
          <a:p>
            <a:pPr>
              <a:spcAft>
                <a:spcPts val="1000"/>
              </a:spcAft>
              <a:defRPr sz="2185">
                <a:solidFill>
                  <a:srgbClr val="1F3A5F"/>
                </a:solidFill>
              </a:defRPr>
            </a:pPr>
            <a:r>
              <a:rPr/>
              <a:t>• KLayout — GDS viewing, DRC and LVS.  Magic + netgen — extraction and LVS.</a:t>
            </a:r>
          </a:p>
          <a:p>
            <a:pPr>
              <a:spcAft>
                <a:spcPts val="1000"/>
              </a:spcAft>
              <a:defRPr sz="2185">
                <a:solidFill>
                  <a:srgbClr val="1F3A5F"/>
                </a:solidFill>
              </a:defRPr>
            </a:pPr>
            <a:r>
              <a:rPr/>
              <a:t>• Kepler Formal — gate-level logical equivalence checking.</a:t>
            </a:r>
          </a:p>
          <a:p>
            <a:pPr>
              <a:spcAft>
                <a:spcPts val="1000"/>
              </a:spcAft>
              <a:defRPr sz="2185">
                <a:solidFill>
                  <a:srgbClr val="1F3A5F"/>
                </a:solidFill>
              </a:defRPr>
            </a:pPr>
            <a:r>
              <a:rPr/>
              <a:t>• SkyWater Technology, Google and open_pdks — the open sky130 PDK and standard-cell library.</a:t>
            </a:r>
          </a:p>
          <a:p>
            <a:pPr>
              <a:spcAft>
                <a:spcPts val="1000"/>
              </a:spcAft>
              <a:defRPr sz="2185">
                <a:solidFill>
                  <a:srgbClr val="1F3A5F"/>
                </a:solidFill>
              </a:defRPr>
            </a:pPr>
            <a:r>
              <a:rPr/>
              <a:t>• The RISC-V community, and J. E. Stine (Harris &amp; Harris textbook reference core) whose RV32I design is the DUT.</a:t>
            </a:r>
          </a:p>
          <a:p>
            <a:pPr>
              <a:spcAft>
                <a:spcPts val="1000"/>
              </a:spcAft>
              <a:defRPr sz="2185">
                <a:solidFill>
                  <a:srgbClr val="1F3A5F"/>
                </a:solidFill>
              </a:defRPr>
            </a:pPr>
            <a:r>
              <a:rPr/>
              <a:t>• With thanks to all these tool, PDK and research teams for making an open silicon flow possible.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