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rIns="822960"/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LUNARCH</a:t>
            </a:r>
          </a:p>
          <a:p>
            <a:pPr algn="ctr">
              <a:defRPr sz="2400">
                <a:solidFill>
                  <a:srgbClr val="9EC5FF"/>
                </a:solidFill>
              </a:defRPr>
            </a:pPr>
            <a:r>
              <a:t>AI-Driven Chip Design Leveraging Open-Source Toolchains</a:t>
            </a:r>
          </a:p>
          <a:p>
            <a:pPr algn="ctr">
              <a:defRPr sz="1400">
                <a:solidFill>
                  <a:srgbClr val="C9D8EE"/>
                </a:solidFill>
              </a:defRPr>
            </a:pPr>
            <a:r>
              <a:t>RISC-V RV32I core  ·  sky130HD  ·  RTL-to-GDS  ·  verification, timing &amp; power studies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3A5F"/>
                </a:solidFill>
              </a:defRPr>
            </a:pPr>
            <a:r>
              <a:t>• Design under test — the RISC-V RV32I core</a:t>
            </a:r>
          </a:p>
          <a:p>
            <a:pPr>
              <a:spcAft>
                <a:spcPts val="700"/>
              </a:spcAft>
              <a:defRPr sz="1800">
                <a:solidFill>
                  <a:srgbClr val="1F3A5F"/>
                </a:solidFill>
              </a:defRPr>
            </a:pPr>
            <a:r>
              <a:t>• Block diagram and module hierarchy</a:t>
            </a:r>
          </a:p>
          <a:p>
            <a:pPr>
              <a:spcAft>
                <a:spcPts val="700"/>
              </a:spcAft>
              <a:defRPr sz="1800">
                <a:solidFill>
                  <a:srgbClr val="1F3A5F"/>
                </a:solidFill>
              </a:defRPr>
            </a:pPr>
            <a:r>
              <a:t>• Microarchitecture — the single-cycle datapath</a:t>
            </a:r>
          </a:p>
          <a:p>
            <a:pPr>
              <a:spcAft>
                <a:spcPts val="700"/>
              </a:spcAft>
              <a:defRPr sz="1800">
                <a:solidFill>
                  <a:srgbClr val="1F3A5F"/>
                </a:solidFill>
              </a:defRPr>
            </a:pPr>
            <a:r>
              <a:t>• Data flow and path groups</a:t>
            </a:r>
          </a:p>
          <a:p>
            <a:pPr>
              <a:spcAft>
                <a:spcPts val="700"/>
              </a:spcAft>
              <a:defRPr sz="1800">
                <a:solidFill>
                  <a:srgbClr val="1F3A5F"/>
                </a:solidFill>
              </a:defRPr>
            </a:pPr>
            <a:r>
              <a:t>• AI-driven open-source design flow (RTL → GDS)</a:t>
            </a:r>
          </a:p>
          <a:p>
            <a:pPr>
              <a:spcAft>
                <a:spcPts val="700"/>
              </a:spcAft>
              <a:defRPr sz="1800">
                <a:solidFill>
                  <a:srgbClr val="1F3A5F"/>
                </a:solidFill>
              </a:defRPr>
            </a:pPr>
            <a:r>
              <a:t>• Verification &amp; simulation (LEC, DRC, LVS, timing dashboards)</a:t>
            </a:r>
          </a:p>
          <a:p>
            <a:pPr>
              <a:spcAft>
                <a:spcPts val="700"/>
              </a:spcAft>
              <a:defRPr sz="1800">
                <a:solidFill>
                  <a:srgbClr val="1F3A5F"/>
                </a:solidFill>
              </a:defRPr>
            </a:pPr>
            <a:r>
              <a:t>• Physical-design flow (synthesis → place → CTS → route)</a:t>
            </a:r>
          </a:p>
          <a:p>
            <a:pPr>
              <a:spcAft>
                <a:spcPts val="700"/>
              </a:spcAft>
              <a:defRPr sz="1800">
                <a:solidFill>
                  <a:srgbClr val="1F3A5F"/>
                </a:solidFill>
              </a:defRPr>
            </a:pPr>
            <a:r>
              <a:t>• Power-oriented and timing-oriented runs</a:t>
            </a:r>
          </a:p>
          <a:p>
            <a:pPr>
              <a:spcAft>
                <a:spcPts val="700"/>
              </a:spcAft>
              <a:defRPr sz="1800">
                <a:solidFill>
                  <a:srgbClr val="1F3A5F"/>
                </a:solidFill>
              </a:defRPr>
            </a:pPr>
            <a:r>
              <a:t>• Baseline results and Pareto comparison</a:t>
            </a:r>
          </a:p>
          <a:p>
            <a:pPr>
              <a:spcAft>
                <a:spcPts val="700"/>
              </a:spcAft>
              <a:defRPr sz="1800">
                <a:solidFill>
                  <a:srgbClr val="1F3A5F"/>
                </a:solidFill>
              </a:defRPr>
            </a:pPr>
            <a:r>
              <a:t>• Hardware and software requirements</a:t>
            </a:r>
          </a:p>
          <a:p>
            <a:pPr>
              <a:spcAft>
                <a:spcPts val="700"/>
              </a:spcAft>
              <a:defRPr sz="1800">
                <a:solidFill>
                  <a:srgbClr val="1F3A5F"/>
                </a:solidFill>
              </a:defRPr>
            </a:pPr>
            <a:r>
              <a:t>• 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Design Under Test — RISC-V RV32I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Top module: riscv — a simple single-cycle RV32I core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Origin: J. E. Stine, Oklahoma State University (Harris &amp; Harris textbook processor); bundled with OpenROAD Flow Scripts (Apache-2.0)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24 RTL modules; 18 elaborated under the riscv top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Sequential state: PC register (32 b) + register file 32×32 (1,024 FFs) + SEPC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Instruction/data memories are external (instr / readdata in, memwrite / aluout / writedata out)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Target platform: sky130HD (sky130_fd_sc_hd), high-density standard cells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Baseline: 5,520 cells, 73,594 µm² core area, 376.6 µm die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Block Diagram — riscv</a:t>
            </a:r>
          </a:p>
          <a:p>
            <a:pPr>
              <a:defRPr sz="1200">
                <a:solidFill>
                  <a:srgbClr val="C9D8EE"/>
                </a:solidFill>
              </a:defRPr>
            </a:pPr>
            <a:r>
              <a:t>controller + datapath, colour-coded by path group</a:t>
            </a:r>
          </a:p>
        </p:txBody>
      </p:sp>
      <p:pic>
        <p:nvPicPr>
          <p:cNvPr id="3" name="Picture 2" descr="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58615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1234440"/>
            <a:ext cx="3611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5F"/>
                </a:solidFill>
              </a:defRPr>
            </a:pPr>
            <a:r>
              <a:t>• controller (maindec + aludec) drives the datapath control bus</a:t>
            </a:r>
          </a:p>
          <a:p>
            <a:pPr>
              <a:spcAft>
                <a:spcPts val="500"/>
              </a:spcAft>
              <a:defRPr sz="1300">
                <a:solidFill>
                  <a:srgbClr val="1F3A5F"/>
                </a:solidFill>
              </a:defRPr>
            </a:pPr>
            <a:r>
              <a:t>• datapath: regfile, ALU, shifter, magcompare32, adders, muxes</a:t>
            </a:r>
          </a:p>
          <a:p>
            <a:pPr>
              <a:spcAft>
                <a:spcPts val="500"/>
              </a:spcAft>
              <a:defRPr sz="1300">
                <a:solidFill>
                  <a:srgbClr val="1F3A5F"/>
                </a:solidFill>
              </a:defRPr>
            </a:pPr>
            <a:r>
              <a:t>• gold = register file; blue = PC / fetch loop</a:t>
            </a:r>
          </a:p>
          <a:p>
            <a:pPr>
              <a:spcAft>
                <a:spcPts val="500"/>
              </a:spcAft>
              <a:defRPr sz="1300">
                <a:solidFill>
                  <a:srgbClr val="1F3A5F"/>
                </a:solidFill>
              </a:defRPr>
            </a:pPr>
            <a:r>
              <a:t>• colour-coded by functional path group (PG1–PG8)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Microarchitecture — Single-Cycle Datapath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Single cycle: fetch → decode → execute → write-back in one clock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controller — maindec (opcode decode) + aludec (funct decode) produce the control bus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datapath blocks:</a:t>
            </a:r>
          </a:p>
          <a:p>
            <a:pPr lvl="1">
              <a:spcAft>
                <a:spcPts val="700"/>
              </a:spcAft>
              <a:defRPr sz="1300">
                <a:solidFill>
                  <a:srgbClr val="44546A"/>
                </a:solidFill>
              </a:defRPr>
            </a:pPr>
            <a:r>
              <a:t>– regfile 32×32, 2 read + 1 write port, rf[0] hard-wired to 0</a:t>
            </a:r>
          </a:p>
          <a:p>
            <a:pPr lvl="1">
              <a:spcAft>
                <a:spcPts val="700"/>
              </a:spcAft>
              <a:defRPr sz="1300">
                <a:solidFill>
                  <a:srgbClr val="44546A"/>
                </a:solidFill>
              </a:defRPr>
            </a:pPr>
            <a:r>
              <a:t>– alu — add/sub/and/or/xor/slt with zero flag</a:t>
            </a:r>
          </a:p>
          <a:p>
            <a:pPr lvl="1">
              <a:spcAft>
                <a:spcPts val="700"/>
              </a:spcAft>
              <a:defRPr sz="1300">
                <a:solidFill>
                  <a:srgbClr val="44546A"/>
                </a:solidFill>
              </a:defRPr>
            </a:pPr>
            <a:r>
              <a:t>– shifter — left / logical-right / arithmetic-right (shtype, shamt)</a:t>
            </a:r>
          </a:p>
          <a:p>
            <a:pPr lvl="1">
              <a:spcAft>
                <a:spcPts val="700"/>
              </a:spcAft>
              <a:defRPr sz="1300">
                <a:solidFill>
                  <a:srgbClr val="44546A"/>
                </a:solidFill>
              </a:defRPr>
            </a:pPr>
            <a:r>
              <a:t>– magcompare32 — 32-bit magnitude comparator (2b×16, 2c×15) for branches</a:t>
            </a:r>
          </a:p>
          <a:p>
            <a:pPr lvl="1">
              <a:spcAft>
                <a:spcPts val="700"/>
              </a:spcAft>
              <a:defRPr sz="1300">
                <a:solidFill>
                  <a:srgbClr val="44546A"/>
                </a:solidFill>
              </a:defRPr>
            </a:pPr>
            <a:r>
              <a:t>– adder ×2 (PC+4, PC+imm), signext/mux5, mux2 / mux3 / mux5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flopr / flopenr — PC and SEPC sequential elements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Critical loop: regfile read → mux → ALU → mux → regfile 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Fetch: pcreg → adder(+4) / adder(+imm) → pcmux(pcsrc) → ISRmux → pcreg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Decode: instr → controller (maindec, aludec) → control bus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Register read: regfile.rd1 → srca2 (rs1), rd2 → writedata (rs2)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Immediate: instr → signext(mux5) → pcextmux → adders / ALU B-operand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Execute: alu(srca2, srcb) and shifter(srca2, shamt) → srccmux → aluout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Compare: srca2/writedata → magcompare32 → gt/lt/eq → controller.pcsrc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Write-back: resmux(ALU/load) → storepcmux(link PC) → rf.wd3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Endpoints: pcreg, SEPC, rf[1..31]; ports instr/readdata → pc/aluout/writedata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Path Groups (timing partition)</a:t>
            </a:r>
          </a:p>
          <a:p>
            <a:pPr>
              <a:defRPr sz="1200">
                <a:solidFill>
                  <a:srgbClr val="C9D8EE"/>
                </a:solidFill>
              </a:defRPr>
            </a:pPr>
            <a:r>
              <a:t>critical path sits in PG2 (regfile → ALU → regfile)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020"/>
                <a:gridCol w="2397252"/>
                <a:gridCol w="2950464"/>
                <a:gridCol w="4794504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Start → End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Dominant logic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PG1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PC / Fetch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pcreg → 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adder(+4/+imm), pcmux, flopr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PG2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ALU write-back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regfile → regfile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rs1mux, memsrcmux, alu, srccmux, resmux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PG3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Shift write-back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regfile → regfile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shifter, srccmux, resmux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PG4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Memory (LSU)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readdata→rf / rf→writedata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halfbytemux1/2, resmux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PG5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Branch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regfile → 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magcompare32 → controller.pcsrc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PG6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Decode / Control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instr → ctrl bus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controller (maindec, aludec)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Immediate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instr → alu/pcreg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signext(mux5), pcextmux, adder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PG8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Output / Exception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regfile → aluout; pcreg → SEPC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srccmux, flopenr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AI-Driven Open-Source Design Flow (RTL → GDS)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RTL synthesis — Yosys (≥ 0.69), mapped to sky130_fd_sc_hd liberty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Floorplan / place / CTS / route — OpenROAD Flow Scripts (ORFS) + version-matched OpenROAD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GDS stream-out — OpenROAD / KLayout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Physical verification — KLayout DRC (sky130hd.lydrc) and LVS (sky130hd.lylvs)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Layout vs extracted — Magic + netgen (LVS); parasitic SPEF for STA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Logical equivalence — Kepler Formal (gate-level) + Yosys equiv_* (RTL vs synth)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AI agents orchestrated the flow: toolchain build &amp; version matching, run debugging, artifact/report extraction, dashboard &amp; Excel generation, goal-directed optimization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Verification &amp; Simulation</a:t>
            </a:r>
          </a:p>
          <a:p>
            <a:pPr>
              <a:defRPr sz="1200">
                <a:solidFill>
                  <a:srgbClr val="C9D8EE"/>
                </a:solidFill>
              </a:defRPr>
            </a:pPr>
            <a:r>
              <a:t>functional + physical + logical equivalence all green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38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9272"/>
                <a:gridCol w="5163311"/>
                <a:gridCol w="2581655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Tool / method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RTL ≡ synthesised netlist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Yosys equiv_make / equiv_induct / equiv_status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Proven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Synth ≡ final routed netlist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Kepler Formal (gate-level LEC, LEC_CHECK=1)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Global output passed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DRC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KLayout sky130hd.lydrc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0 violations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LVS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KLayout sky130hd.lylvs (+ Magic/netgen)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Netlists match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Timing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OpenROAD STA (report_checks), SDC 7.0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WNS/TNS 0.00 ns, hold MET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Simulation / equivalence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Yosys formal + SAT (counter-example free)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Physical-Design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1_synth — Yosys synthesis to sky130 std cells (1_synth.odb / 1_2_yosys.v)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2_floorplan — die/core sizing, tapcells, PDN (power grid)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3_place — global place → resizer → detailed place (sizing for timing/area)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4_cts — clock-tree synthesis, clock buffers, skew balancing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5_route — global route (FastRoute) → detailed route → fill cells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6_finish — final GDSII, SPEF, netlist, reports (DRC/LVS run separately)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Artifacts: 6_final.gds / .def / .v / .spef, 6_drc.lyrdb, 6_lvs.lvsdb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Timing-Oriented Run (→ 200 MHz target)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Goal: fastest possible; power unconstrained; clock target 5.0 ns (200 MHz)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Knobs: clk_period 5.0 ns, ABC_AREA=0 (delay), TNS_END_PERCENT=100, die pinned to baseline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Result: NOT met — setup WNS −1.60 ns, TNS −752.8 ns at 5.0 ns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Best achievable: min period 6.52 ns → fmax 153.4 MHz (+3.7% vs baseline)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Power: 29.3 mW (+49%) for only +5.5 MHz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Why: single-cycle regfile→ALU→regfile loop, 28 logic levels, cell-delay dominated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Conclusion: 200 MHz requires RTL pipelining, not P&amp;R tuning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Power-Oriented Run (→ minimum power)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Goal: lowest power; frequency unconstrained; clock relaxed to 20.0 ns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Knobs: clk_period 20.0 ns, ABC_AREA=1 (area-oriented mapping), die pinned to baseline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Result: timing clean (WNS/TNS 0.00 ns, worst slack +9.09 ns)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Power: 6.54 mW vs 19.7 mW baseline → −67%</a:t>
            </a:r>
          </a:p>
          <a:p>
            <a:pPr lvl="1">
              <a:spcAft>
                <a:spcPts val="700"/>
              </a:spcAft>
              <a:defRPr sz="1300">
                <a:solidFill>
                  <a:srgbClr val="44546A"/>
                </a:solidFill>
              </a:defRPr>
            </a:pPr>
            <a:r>
              <a:t>– sequential −65%, combinational −71%, clock −65%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Cost: fmax 132.5 MHz (−10% vs baseline)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Mechanism: smaller / lower-capacitance gates + relaxed clock → far less dynamic power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Baseline Results (7.0 ns, 142.9 MHz)</a:t>
            </a:r>
          </a:p>
          <a:p>
            <a:pPr>
              <a:defRPr sz="1200">
                <a:solidFill>
                  <a:srgbClr val="C9D8EE"/>
                </a:solidFill>
              </a:defRPr>
            </a:pPr>
            <a:r>
              <a:t>reference point for all optimization studies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Setup WNS / TNS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0.00 / 0.00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Min reg→reg period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6.76 ns (fmax 147.9 MHz)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MET (worst +0.58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Core 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73,594 µm² (die 376.6 µm)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Cells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5,520 (1,024 edfxtp + 32 dfrtp)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Power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19.7 mW (seq 40% / comb 30% / clk 29%)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Signal wirelength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274.2 mm (met1/met2 dominated)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DRC / LVS / LEC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0 / match / proven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Timing vs Power — Pareto (same 376.6 µm die)</a:t>
            </a:r>
          </a:p>
          <a:p>
            <a:pPr>
              <a:defRPr sz="1200">
                <a:solidFill>
                  <a:srgbClr val="C9D8EE"/>
                </a:solidFill>
              </a:defRPr>
            </a:pPr>
            <a:r>
              <a:t>trading speed for power and vice-versa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Timing run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Power run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Clock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7.0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5.0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20.0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Setup WNS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0.00 ns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−1.60 ns ✗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0.00 ns ✓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fmax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147.9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153.4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132.5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Total power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19.7 mW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29.3 mW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6.54 mW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ABC 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Final Layout (GDS) + Module Map</a:t>
            </a:r>
          </a:p>
          <a:p>
            <a:pPr>
              <a:defRPr sz="1200">
                <a:solidFill>
                  <a:srgbClr val="C9D8EE"/>
                </a:solidFill>
              </a:defRPr>
            </a:pPr>
            <a:r>
              <a:t>timing-closed 7.0 ns layout</a:t>
            </a:r>
          </a:p>
        </p:txBody>
      </p:sp>
      <p:pic>
        <p:nvPicPr>
          <p:cNvPr id="3" name="Picture 2" descr="6_fi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21208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1234440"/>
            <a:ext cx="3611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5F"/>
                </a:solidFill>
              </a:defRPr>
            </a:pPr>
            <a:r>
              <a:t>• physical layout: regfile (red) left third, ALU (blue) right cluster</a:t>
            </a:r>
          </a:p>
          <a:p>
            <a:pPr>
              <a:spcAft>
                <a:spcPts val="500"/>
              </a:spcAft>
              <a:defRPr sz="1300">
                <a:solidFill>
                  <a:srgbClr val="1F3A5F"/>
                </a:solidFill>
              </a:defRPr>
            </a:pPr>
            <a:r>
              <a:t>• adders / muxes between; grey = opt-merged logic + clock/fill</a:t>
            </a:r>
          </a:p>
          <a:p>
            <a:pPr>
              <a:spcAft>
                <a:spcPts val="500"/>
              </a:spcAft>
              <a:defRPr sz="1300">
                <a:solidFill>
                  <a:srgbClr val="1F3A5F"/>
                </a:solidFill>
              </a:defRPr>
            </a:pPr>
            <a:r>
              <a:t>• 376.6 µm die, 5,535 placed cells</a:t>
            </a:r>
          </a:p>
          <a:p>
            <a:pPr>
              <a:spcAft>
                <a:spcPts val="500"/>
              </a:spcAft>
              <a:defRPr sz="1300">
                <a:solidFill>
                  <a:srgbClr val="1F3A5F"/>
                </a:solidFill>
              </a:defRPr>
            </a:pPr>
            <a:r>
              <a:t>• consistent with PG2 loop: split placement, yet wire delay &lt; 0.02 ns/path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Hardware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Host: x86-64 machine running WSL2 (Ubuntu 24.04)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CPU: multi-core (≥ 4 cores; place/route are largely single-thread heavy)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RAM: ≥ 16 GB (recommend 32 GB); peak route/STA ~ 1–2 GB for this design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Disk: ≥ 50 GB free (PDK + tools + builds; ORFS submodules &amp; sources are large)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Optional: dedicated NVMe for the WSL VHD (this project used an external NVMe)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No special accelerator required — a standard workstation/laptop suffices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Software Requirements (open-source)</a:t>
            </a:r>
          </a:p>
          <a:p>
            <a:pPr>
              <a:defRPr sz="1200">
                <a:solidFill>
                  <a:srgbClr val="C9D8EE"/>
                </a:solidFill>
              </a:defRPr>
            </a:pPr>
            <a:r>
              <a:t>100% open-source; no commercial EDA licenses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0467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Tools / version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WSL2 Ubuntu 24.04 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Synthesis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Yosys ≥ 0.69 (built from source)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P&amp;R + 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OpenROAD (built from source, matched to ORFS)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Flow scripts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OpenROAD Flow Scripts (ORFS, master)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Layout / extract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Magic 8.3 (build), netgen 1.5 (apt)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DRC / LVS / 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KLayout 0.28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Formal LEC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Kepler Formal (built from source)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PDK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sky130A (open_pdks, sky130_fd_sc_hd)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AI / scripting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4546A"/>
                          </a:solidFill>
                        </a:defRPr>
                      </a:pPr>
                      <a:r>
                        <a:t>opencode AI agent, Python 3 + openpyxl / python-pptx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A complete open-source RTL→GDS flow for an RV32I core was built and sign-off clean (DRC 0, LVS match, LEC proven)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AI orchestration covered toolchain bring-up, version matching, debugging, dashboards and goal-directed studies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Baseline closes timing at 7.0 ns (147.9 MHz, 19.7 mW)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200 MHz is unreachable without RTL pipelining — best is 153.4 MHz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Area-oriented synthesis + relaxed clock cuts power 67% (6.54 mW) at 132.5 MHz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The design is cell-delay dominated; wire delay &lt; 0.02 ns per path — not wire-limited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Next steps: pipelined microarchitecture to reach 200 MHz+; SRAM macro for the memories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